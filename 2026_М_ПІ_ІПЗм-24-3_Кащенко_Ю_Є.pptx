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notesSlides/notesSlide11.xml" ContentType="application/vnd.openxmlformats-officedocument.presentationml.notesSlide+xml"/>
  <Override PartName="/ppt/charts/chart3.xml" ContentType="application/vnd.openxmlformats-officedocument.drawingml.chart+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8" r:id="rId11"/>
    <p:sldId id="269" r:id="rId12"/>
    <p:sldId id="265"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18B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353" autoAdjust="0"/>
    <p:restoredTop sz="82677" autoAdjust="0"/>
  </p:normalViewPr>
  <p:slideViewPr>
    <p:cSldViewPr snapToGrid="0" snapToObjects="1">
      <p:cViewPr varScale="1">
        <p:scale>
          <a:sx n="102" d="100"/>
          <a:sy n="102" d="100"/>
        </p:scale>
        <p:origin x="87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oleObject" Target="file:///C:\Users\Fima\Desktop\&#1059;&#1085;&#1110;&#1074;&#1077;&#1088;%20&#1084;&#1072;&#1075;&#1110;&#1089;&#1090;&#1088;&#1072;&#1090;&#1091;&#1088;&#1072;\&#1030;&#1030;&#1030;%20&#1089;&#1077;&#1084;&#1077;&#1089;&#1090;&#1088;\&#1057;&#1090;&#1072;&#1090;&#1090;&#1103;\&#1056;&#1077;&#1079;&#1091;&#1083;&#1100;&#1090;&#1072;&#1090;&#1080;%20&#1077;&#1082;&#1089;&#1087;&#1077;&#1088;&#1080;&#1084;&#1077;&#1085;&#1090;&#1091;.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Fima\Desktop\&#1059;&#1085;&#1110;&#1074;&#1077;&#1088;%20&#1084;&#1072;&#1075;&#1110;&#1089;&#1090;&#1088;&#1072;&#1090;&#1091;&#1088;&#1072;\&#1030;&#1030;&#1030;%20&#1089;&#1077;&#1084;&#1077;&#1089;&#1090;&#1088;\&#1057;&#1090;&#1072;&#1090;&#1090;&#1103;\&#1056;&#1077;&#1079;&#1091;&#1083;&#1100;&#1090;&#1072;&#1090;&#1080;%20&#1077;&#1082;&#1089;&#1087;&#1077;&#1088;&#1080;&#1084;&#1077;&#1085;&#1090;&#109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uk-UA"/>
  <c:roundedCorners val="1"/>
  <c:style val="2"/>
  <c:chart>
    <c:autoTitleDeleted val="1"/>
    <c:plotArea>
      <c:layout/>
      <c:barChart>
        <c:barDir val="col"/>
        <c:grouping val="clustered"/>
        <c:varyColors val="0"/>
        <c:ser>
          <c:idx val="0"/>
          <c:order val="0"/>
          <c:tx>
            <c:strRef>
              <c:f>Sheet1!$B$1</c:f>
              <c:strCache>
                <c:ptCount val="1"/>
                <c:pt idx="0">
                  <c:v>U(A)</c:v>
                </c:pt>
              </c:strCache>
            </c:strRef>
          </c:tx>
          <c:spPr>
            <a:solidFill>
              <a:srgbClr val="C0504D"/>
            </a:solidFill>
            <a:effectLst/>
          </c:spPr>
          <c:invertIfNegative val="0"/>
          <c:cat>
            <c:strRef>
              <c:f>Sheet1!$A$2:$A$7</c:f>
              <c:strCache>
                <c:ptCount val="6"/>
                <c:pt idx="0">
                  <c:v>Short polling</c:v>
                </c:pt>
                <c:pt idx="1">
                  <c:v>Long polling</c:v>
                </c:pt>
                <c:pt idx="2">
                  <c:v>SSE</c:v>
                </c:pt>
                <c:pt idx="3">
                  <c:v>WebSocket</c:v>
                </c:pt>
                <c:pt idx="4">
                  <c:v>Socket.IO</c:v>
                </c:pt>
                <c:pt idx="5">
                  <c:v>GraphQL Subs</c:v>
                </c:pt>
              </c:strCache>
            </c:strRef>
          </c:cat>
          <c:val>
            <c:numRef>
              <c:f>Sheet1!$B$2:$B$7</c:f>
              <c:numCache>
                <c:formatCode>General</c:formatCode>
                <c:ptCount val="6"/>
                <c:pt idx="0">
                  <c:v>0.38</c:v>
                </c:pt>
                <c:pt idx="1">
                  <c:v>0.39</c:v>
                </c:pt>
                <c:pt idx="2">
                  <c:v>0.5</c:v>
                </c:pt>
                <c:pt idx="3">
                  <c:v>0.89</c:v>
                </c:pt>
                <c:pt idx="4">
                  <c:v>0.69</c:v>
                </c:pt>
                <c:pt idx="5">
                  <c:v>0.45</c:v>
                </c:pt>
              </c:numCache>
            </c:numRef>
          </c:val>
          <c:extLst>
            <c:ext xmlns:c16="http://schemas.microsoft.com/office/drawing/2014/chart" uri="{C3380CC4-5D6E-409C-BE32-E72D297353CC}">
              <c16:uniqueId val="{00000000-D701-4073-8B72-794B58121476}"/>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lblOffset val="100"/>
        <c:noMultiLvlLbl val="1"/>
      </c:catAx>
      <c:valAx>
        <c:axId val="2094734552"/>
        <c:scaling>
          <c:orientation val="minMax"/>
          <c:max val="1"/>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uk-UA"/>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uk-UA"/>
              <a:t>Середня</a:t>
            </a:r>
            <a:r>
              <a:rPr lang="uk-UA" baseline="0"/>
              <a:t> затримка доставки повідомлення</a:t>
            </a:r>
            <a:endParaRPr lang="uk-UA"/>
          </a:p>
        </c:rich>
      </c:tx>
      <c:overlay val="0"/>
      <c:spPr>
        <a:noFill/>
        <a:ln>
          <a:noFill/>
        </a:ln>
        <a:effectLst/>
      </c:spPr>
    </c:title>
    <c:autoTitleDeleted val="0"/>
    <c:plotArea>
      <c:layout/>
      <c:barChart>
        <c:barDir val="col"/>
        <c:grouping val="clustered"/>
        <c:varyColors val="0"/>
        <c:ser>
          <c:idx val="0"/>
          <c:order val="0"/>
          <c:tx>
            <c:v>Сценарій 1</c:v>
          </c:tx>
          <c:spPr>
            <a:solidFill>
              <a:schemeClr val="accent1"/>
            </a:solidFill>
            <a:ln w="6350">
              <a:solidFill>
                <a:schemeClr val="tx1"/>
              </a:solidFill>
            </a:ln>
            <a:effectLst/>
          </c:spPr>
          <c:invertIfNegative val="0"/>
          <c:cat>
            <c:strRef>
              <c:f>Аркуш1!$A$3:$A$8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Аркуш1!$B$3:$B$8</c:f>
              <c:numCache>
                <c:formatCode>General</c:formatCode>
                <c:ptCount val="6"/>
                <c:pt idx="0">
                  <c:v>47.59</c:v>
                </c:pt>
                <c:pt idx="1">
                  <c:v>2.25</c:v>
                </c:pt>
                <c:pt idx="2">
                  <c:v>0.68</c:v>
                </c:pt>
                <c:pt idx="3">
                  <c:v>0.53</c:v>
                </c:pt>
                <c:pt idx="4">
                  <c:v>0.63</c:v>
                </c:pt>
                <c:pt idx="5">
                  <c:v>0.46</c:v>
                </c:pt>
              </c:numCache>
            </c:numRef>
          </c:val>
          <c:extLst>
            <c:ext xmlns:c16="http://schemas.microsoft.com/office/drawing/2014/chart" uri="{C3380CC4-5D6E-409C-BE32-E72D297353CC}">
              <c16:uniqueId val="{00000000-5278-4FC3-943F-02C70D0B1151}"/>
            </c:ext>
          </c:extLst>
        </c:ser>
        <c:ser>
          <c:idx val="1"/>
          <c:order val="1"/>
          <c:tx>
            <c:v>Сценраій 2</c:v>
          </c:tx>
          <c:spPr>
            <a:solidFill>
              <a:schemeClr val="accent2"/>
            </a:solidFill>
            <a:ln>
              <a:noFill/>
            </a:ln>
            <a:effectLst/>
          </c:spPr>
          <c:invertIfNegative val="0"/>
          <c:cat>
            <c:strRef>
              <c:f>Аркуш1!$A$3:$A$8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Аркуш1!$C$3:$C$8</c:f>
              <c:numCache>
                <c:formatCode>General</c:formatCode>
                <c:ptCount val="6"/>
                <c:pt idx="0">
                  <c:v>992.01</c:v>
                </c:pt>
                <c:pt idx="1">
                  <c:v>2.44</c:v>
                </c:pt>
                <c:pt idx="2">
                  <c:v>0.68</c:v>
                </c:pt>
                <c:pt idx="3">
                  <c:v>0.54</c:v>
                </c:pt>
                <c:pt idx="4">
                  <c:v>0.72</c:v>
                </c:pt>
                <c:pt idx="5">
                  <c:v>0.54</c:v>
                </c:pt>
              </c:numCache>
            </c:numRef>
          </c:val>
          <c:extLst>
            <c:ext xmlns:c16="http://schemas.microsoft.com/office/drawing/2014/chart" uri="{C3380CC4-5D6E-409C-BE32-E72D297353CC}">
              <c16:uniqueId val="{00000001-5278-4FC3-943F-02C70D0B1151}"/>
            </c:ext>
          </c:extLst>
        </c:ser>
        <c:ser>
          <c:idx val="2"/>
          <c:order val="2"/>
          <c:tx>
            <c:v>Сценарій 3</c:v>
          </c:tx>
          <c:spPr>
            <a:solidFill>
              <a:schemeClr val="accent3"/>
            </a:solidFill>
            <a:ln>
              <a:noFill/>
            </a:ln>
            <a:effectLst/>
          </c:spPr>
          <c:invertIfNegative val="0"/>
          <c:cat>
            <c:strRef>
              <c:f>Аркуш1!$A$3:$A$8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Аркуш1!$D$3:$D$8</c:f>
              <c:numCache>
                <c:formatCode>General</c:formatCode>
                <c:ptCount val="6"/>
                <c:pt idx="0">
                  <c:v>51.04</c:v>
                </c:pt>
                <c:pt idx="1">
                  <c:v>5.53</c:v>
                </c:pt>
                <c:pt idx="2">
                  <c:v>1.69</c:v>
                </c:pt>
                <c:pt idx="3">
                  <c:v>0.71</c:v>
                </c:pt>
                <c:pt idx="4">
                  <c:v>0.97</c:v>
                </c:pt>
                <c:pt idx="5">
                  <c:v>0.96</c:v>
                </c:pt>
              </c:numCache>
            </c:numRef>
          </c:val>
          <c:extLst>
            <c:ext xmlns:c16="http://schemas.microsoft.com/office/drawing/2014/chart" uri="{C3380CC4-5D6E-409C-BE32-E72D297353CC}">
              <c16:uniqueId val="{00000002-5278-4FC3-943F-02C70D0B1151}"/>
            </c:ext>
          </c:extLst>
        </c:ser>
        <c:dLbls>
          <c:showLegendKey val="0"/>
          <c:showVal val="0"/>
          <c:showCatName val="0"/>
          <c:showSerName val="0"/>
          <c:showPercent val="0"/>
          <c:showBubbleSize val="0"/>
        </c:dLbls>
        <c:gapWidth val="219"/>
        <c:overlap val="-27"/>
        <c:axId val="397472512"/>
        <c:axId val="414364032"/>
      </c:barChart>
      <c:catAx>
        <c:axId val="39747251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414364032"/>
        <c:crossesAt val="0.1"/>
        <c:auto val="1"/>
        <c:lblAlgn val="ctr"/>
        <c:lblOffset val="100"/>
        <c:noMultiLvlLbl val="0"/>
      </c:catAx>
      <c:valAx>
        <c:axId val="414364032"/>
        <c:scaling>
          <c:logBase val="2"/>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397472512"/>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tx1">
          <a:lumMod val="15000"/>
          <a:lumOff val="85000"/>
        </a:schemeClr>
      </a:solidFill>
      <a:round/>
    </a:ln>
    <a:effectLst/>
  </c:spPr>
  <c:txPr>
    <a:bodyPr/>
    <a:lstStyle/>
    <a:p>
      <a:pPr>
        <a:defRPr/>
      </a:pPr>
      <a:endParaRPr lang="ru-RU"/>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uk-UA"/>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uk-UA"/>
              <a:t>Кількість витраченого</a:t>
            </a:r>
            <a:r>
              <a:rPr lang="uk-UA" baseline="0"/>
              <a:t> трафіку на повідомлення</a:t>
            </a:r>
            <a:endParaRPr lang="uk-UA"/>
          </a:p>
        </c:rich>
      </c:tx>
      <c:overlay val="0"/>
      <c:spPr>
        <a:noFill/>
        <a:ln>
          <a:noFill/>
        </a:ln>
        <a:effectLst/>
      </c:spPr>
    </c:title>
    <c:autoTitleDeleted val="0"/>
    <c:plotArea>
      <c:layout/>
      <c:barChart>
        <c:barDir val="col"/>
        <c:grouping val="clustered"/>
        <c:varyColors val="0"/>
        <c:ser>
          <c:idx val="0"/>
          <c:order val="0"/>
          <c:tx>
            <c:v>Сценарій 1</c:v>
          </c:tx>
          <c:spPr>
            <a:solidFill>
              <a:schemeClr val="accent1"/>
            </a:solidFill>
            <a:ln>
              <a:noFill/>
            </a:ln>
            <a:effectLst/>
          </c:spPr>
          <c:invertIfNegative val="0"/>
          <c:cat>
            <c:strRef>
              <c:f>Аркуш1!$A$13:$A$18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Аркуш1!$B$13:$B$18</c:f>
              <c:numCache>
                <c:formatCode>General</c:formatCode>
                <c:ptCount val="6"/>
                <c:pt idx="0">
                  <c:v>64</c:v>
                </c:pt>
                <c:pt idx="1">
                  <c:v>64</c:v>
                </c:pt>
                <c:pt idx="2">
                  <c:v>72</c:v>
                </c:pt>
                <c:pt idx="3">
                  <c:v>64</c:v>
                </c:pt>
                <c:pt idx="4">
                  <c:v>64</c:v>
                </c:pt>
                <c:pt idx="5">
                  <c:v>89</c:v>
                </c:pt>
              </c:numCache>
            </c:numRef>
          </c:val>
          <c:extLst>
            <c:ext xmlns:c16="http://schemas.microsoft.com/office/drawing/2014/chart" uri="{C3380CC4-5D6E-409C-BE32-E72D297353CC}">
              <c16:uniqueId val="{00000000-212D-49D8-8BCA-CACD903FAD60}"/>
            </c:ext>
          </c:extLst>
        </c:ser>
        <c:ser>
          <c:idx val="1"/>
          <c:order val="1"/>
          <c:tx>
            <c:v>Сценарій 2</c:v>
          </c:tx>
          <c:spPr>
            <a:solidFill>
              <a:schemeClr val="accent2"/>
            </a:solidFill>
            <a:ln>
              <a:noFill/>
            </a:ln>
            <a:effectLst/>
          </c:spPr>
          <c:invertIfNegative val="0"/>
          <c:cat>
            <c:strRef>
              <c:f>Аркуш1!$A$13:$A$18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Аркуш1!$C$13:$C$18</c:f>
              <c:numCache>
                <c:formatCode>General</c:formatCode>
                <c:ptCount val="6"/>
                <c:pt idx="0">
                  <c:v>64</c:v>
                </c:pt>
                <c:pt idx="1">
                  <c:v>64</c:v>
                </c:pt>
                <c:pt idx="2">
                  <c:v>74</c:v>
                </c:pt>
                <c:pt idx="3">
                  <c:v>64</c:v>
                </c:pt>
                <c:pt idx="4">
                  <c:v>64</c:v>
                </c:pt>
                <c:pt idx="5">
                  <c:v>89</c:v>
                </c:pt>
              </c:numCache>
            </c:numRef>
          </c:val>
          <c:extLst>
            <c:ext xmlns:c16="http://schemas.microsoft.com/office/drawing/2014/chart" uri="{C3380CC4-5D6E-409C-BE32-E72D297353CC}">
              <c16:uniqueId val="{00000001-212D-49D8-8BCA-CACD903FAD60}"/>
            </c:ext>
          </c:extLst>
        </c:ser>
        <c:ser>
          <c:idx val="2"/>
          <c:order val="2"/>
          <c:tx>
            <c:v>Сценарій 3</c:v>
          </c:tx>
          <c:spPr>
            <a:solidFill>
              <a:schemeClr val="accent3"/>
            </a:solidFill>
            <a:ln>
              <a:noFill/>
            </a:ln>
            <a:effectLst/>
          </c:spPr>
          <c:invertIfNegative val="0"/>
          <c:cat>
            <c:strRef>
              <c:f>Аркуш1!$A$13:$A$18</c:f>
              <c:strCache>
                <c:ptCount val="6"/>
                <c:pt idx="0">
                  <c:v> Short Polling </c:v>
                </c:pt>
                <c:pt idx="1">
                  <c:v> HTTP Long Polling </c:v>
                </c:pt>
                <c:pt idx="2">
                  <c:v> Server-Sent Events </c:v>
                </c:pt>
                <c:pt idx="3">
                  <c:v> WebSocket </c:v>
                </c:pt>
                <c:pt idx="4">
                  <c:v> Socket.IO </c:v>
                </c:pt>
                <c:pt idx="5">
                  <c:v> GraphQL Subscriptions </c:v>
                </c:pt>
              </c:strCache>
            </c:strRef>
          </c:cat>
          <c:val>
            <c:numRef>
              <c:f>Аркуш1!$D$13:$D$18</c:f>
              <c:numCache>
                <c:formatCode>General</c:formatCode>
                <c:ptCount val="6"/>
                <c:pt idx="0">
                  <c:v>64</c:v>
                </c:pt>
                <c:pt idx="1">
                  <c:v>64</c:v>
                </c:pt>
                <c:pt idx="2">
                  <c:v>72</c:v>
                </c:pt>
                <c:pt idx="3">
                  <c:v>11</c:v>
                </c:pt>
                <c:pt idx="4">
                  <c:v>11</c:v>
                </c:pt>
                <c:pt idx="5">
                  <c:v>15</c:v>
                </c:pt>
              </c:numCache>
            </c:numRef>
          </c:val>
          <c:extLst>
            <c:ext xmlns:c16="http://schemas.microsoft.com/office/drawing/2014/chart" uri="{C3380CC4-5D6E-409C-BE32-E72D297353CC}">
              <c16:uniqueId val="{00000002-212D-49D8-8BCA-CACD903FAD60}"/>
            </c:ext>
          </c:extLst>
        </c:ser>
        <c:dLbls>
          <c:showLegendKey val="0"/>
          <c:showVal val="0"/>
          <c:showCatName val="0"/>
          <c:showSerName val="0"/>
          <c:showPercent val="0"/>
          <c:showBubbleSize val="0"/>
        </c:dLbls>
        <c:gapWidth val="219"/>
        <c:overlap val="-27"/>
        <c:axId val="200733056"/>
        <c:axId val="200734592"/>
      </c:barChart>
      <c:catAx>
        <c:axId val="20073305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200734592"/>
        <c:crosses val="autoZero"/>
        <c:auto val="1"/>
        <c:lblAlgn val="ctr"/>
        <c:lblOffset val="100"/>
        <c:noMultiLvlLbl val="0"/>
      </c:catAx>
      <c:valAx>
        <c:axId val="20073459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crossAx val="200733056"/>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ru-RU"/>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tx1">
          <a:lumMod val="15000"/>
          <a:lumOff val="85000"/>
        </a:schemeClr>
      </a:solidFill>
      <a:round/>
    </a:ln>
    <a:effectLst/>
  </c:spPr>
  <c:txPr>
    <a:bodyPr/>
    <a:lstStyle/>
    <a:p>
      <a:pPr>
        <a:defRPr/>
      </a:pPr>
      <a:endParaRPr lang="ru-RU"/>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824160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Доброго дня! До вашої уваги пропонується робота на тему: «Дослідження технологій обміну даними у реальному часі між клієнтом та сервером та побудова моделі оцінки їх продуктивності у </a:t>
            </a:r>
            <a:r>
              <a:rPr lang="uk-UA" dirty="0" err="1"/>
              <a:t>вебзастосунках</a:t>
            </a:r>
            <a:r>
              <a:rPr lang="uk-UA" dirty="0"/>
              <a:t>». Основна ідея дослідження полягає в тому, щоб на одній задачі порівняти шість різних технологій доставки подій та за допомогою математичного апарату обґрунтувати вибір найкращої технології</a:t>
            </a:r>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ru-RU" noProof="1"/>
              <a:t>Доповідь побудована за логікою проведеного дослідження. Ми пройдемо шлях від  вимог предметної галузі до огляду літератури. Далі розглянемо теоретичний етап — багатокритеріальний вибір за принципом Парето, після чого буде представлений розроблений програмний стенд та результати п</a:t>
            </a:r>
            <a:fld id="{C2269592-13D0-46AE-9308-4DF5F5F580DD}" type="slidenum">
              <a:rPr lang="ru-RU" noProof="1" smtClean="0"/>
              <a:t>2</a:t>
            </a:fld>
            <a:r>
              <a:rPr lang="ru-RU" noProof="1"/>
              <a:t>рактичних експериментів щодо затримки та трафіку. Завершимо доповідь сформованими рекомендаціями</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Сучасний веб вимагає інтерактивності. Такі сценарії, як біржові операції, онлайн-ігри чи системи спільної роботи, неможливі без миттєвого оновлення даних. Ключовими вимогами тут є низька затримка (</a:t>
            </a:r>
            <a:r>
              <a:rPr lang="en-US" dirty="0"/>
              <a:t>Latency) </a:t>
            </a:r>
            <a:r>
              <a:rPr lang="uk-UA" dirty="0"/>
              <a:t>та мінімальний мережевий трафік, тобто </a:t>
            </a:r>
            <a:r>
              <a:rPr lang="uk-UA" dirty="0" err="1"/>
              <a:t>оверхед</a:t>
            </a:r>
            <a:r>
              <a:rPr lang="uk-UA" dirty="0"/>
              <a:t>. Проте розробники стикаються з обмеженнями </a:t>
            </a:r>
            <a:r>
              <a:rPr lang="uk-UA" dirty="0" err="1"/>
              <a:t>вебу</a:t>
            </a:r>
            <a:r>
              <a:rPr lang="uk-UA" dirty="0"/>
              <a:t>: лімітами браузерних </a:t>
            </a:r>
            <a:r>
              <a:rPr lang="en-US" dirty="0"/>
              <a:t>API </a:t>
            </a:r>
            <a:r>
              <a:rPr lang="uk-UA" dirty="0"/>
              <a:t>на кількість одночасних з’єднань, проблемами проксі-серверів та нестабільністю мобільного інтернету. Саме через ці чинники вибір між «чистими» </a:t>
            </a:r>
            <a:r>
              <a:rPr lang="uk-UA" dirty="0" err="1"/>
              <a:t>сокетами</a:t>
            </a:r>
            <a:r>
              <a:rPr lang="uk-UA" dirty="0"/>
              <a:t> та бібліотеками стає нетривіальним завданням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Переходячи до актуалізації рішень, варто підкреслити ключову відмінність моєї роботи.</a:t>
            </a:r>
          </a:p>
          <a:p>
            <a:r>
              <a:rPr lang="uk-UA" dirty="0"/>
              <a:t>Більшість існуючих досліджень обмежуються аналізом однієї або двох технологій. Через те, що тести проводяться в різних умовах, архітектори не бачать цілісної картини для об'єктивного вибору.</a:t>
            </a:r>
          </a:p>
          <a:p>
            <a:r>
              <a:rPr lang="uk-UA" dirty="0"/>
              <a:t>У цій роботі цю проблему буде вирішено комплексно. Головна новизна полягає у порівнянні одразу шести різнопланових каналів доставки подій у єдиному, повністю ізольованому середовищі. Це дозволило отримати об'єктивні метрики продуктивності та на їх основі сформувати універсальні рекомендації щодо використання технологій</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У першому розділі було проаналізовано шість обраних технологій, зосередившись на їхніх внутрішніх механізмах. Це допомогло чітко зрозуміти, звідки саме береться затримка та зайвий трафік у традиційному </a:t>
            </a:r>
            <a:r>
              <a:rPr lang="en-US" dirty="0"/>
              <a:t>HTTP. </a:t>
            </a:r>
            <a:r>
              <a:rPr lang="uk-UA" dirty="0"/>
              <a:t>Також було формалізовано їхні головні обмеження — від специфіки кодування даних до лімітів браузерних з'єднань. У результаті було виділено п'ять ключових критеріїв оцінки, які стали надійним фундаментом для наступного кроку — побудови математичної моделі вибору.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Метою роботи є порівняльне дослідження шести підходів: від найпростішого </a:t>
            </a:r>
            <a:r>
              <a:rPr lang="en-US" dirty="0"/>
              <a:t>Short Polling </a:t>
            </a:r>
            <a:r>
              <a:rPr lang="uk-UA" dirty="0"/>
              <a:t>до складних </a:t>
            </a:r>
            <a:r>
              <a:rPr lang="en-US" dirty="0" err="1"/>
              <a:t>GraphQL</a:t>
            </a:r>
            <a:r>
              <a:rPr lang="en-US" dirty="0"/>
              <a:t> Subscriptions. </a:t>
            </a:r>
            <a:r>
              <a:rPr lang="uk-UA" dirty="0"/>
              <a:t>Оцінка проводилася за п’ятьма критеріями: затримка, мережевий </a:t>
            </a:r>
            <a:r>
              <a:rPr lang="uk-UA" dirty="0" err="1"/>
              <a:t>оверхед</a:t>
            </a:r>
            <a:r>
              <a:rPr lang="uk-UA" dirty="0"/>
              <a:t>, масштабованість, складність реалізації та надійність. Для вимірювань було розроблено три сценарії навантаження: швидкі та рідкі події для одного клієнта, а також багатокористувацький режим, що дозволило оцінити поведінку технологій у різних архітектурних умовах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Оскільки жодна технологія не є ідеальною за всіма параметрами, вибір було формалізовано як задачу багатокритеріальної оптимізації. Процес включав: По-перше, нормування шкал (приведення </a:t>
            </a:r>
            <a:r>
              <a:rPr lang="uk-UA" dirty="0" err="1"/>
              <a:t>мілісекунд</a:t>
            </a:r>
            <a:r>
              <a:rPr lang="uk-UA" dirty="0"/>
              <a:t>, байтів та експертних оцінок до єдиного діапазону). По-друге, аналіз за принципом Парето, який дозволив відсіяти </a:t>
            </a:r>
            <a:r>
              <a:rPr lang="uk-UA" dirty="0" err="1"/>
              <a:t>доміновані</a:t>
            </a:r>
            <a:r>
              <a:rPr lang="uk-UA" dirty="0"/>
              <a:t> варіанти. Зокрема, було виявлено, що </a:t>
            </a:r>
            <a:r>
              <a:rPr lang="en-US" dirty="0"/>
              <a:t>WebSocket </a:t>
            </a:r>
            <a:r>
              <a:rPr lang="uk-UA" dirty="0"/>
              <a:t>технічно домінує над </a:t>
            </a:r>
            <a:r>
              <a:rPr lang="en-US" dirty="0"/>
              <a:t>SSE </a:t>
            </a:r>
            <a:r>
              <a:rPr lang="uk-UA" dirty="0"/>
              <a:t>за сукупністю параметрів. Нарешті, була застосована адитивна </a:t>
            </a:r>
            <a:r>
              <a:rPr lang="uk-UA" dirty="0" err="1"/>
              <a:t>згорткова</a:t>
            </a:r>
            <a:r>
              <a:rPr lang="uk-UA" dirty="0"/>
              <a:t> модель з вагами, де найбільший пріоритет (0.30) отримала затримка доставки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Результати теоретичної моделі представлені на графіку. Абсолютним лідером за корисністю став протокол </a:t>
            </a:r>
            <a:r>
              <a:rPr lang="en-US" dirty="0"/>
              <a:t>WebSocket </a:t>
            </a:r>
            <a:r>
              <a:rPr lang="uk-UA" dirty="0"/>
              <a:t>з показником 0.89 завдяки найкращому балансу швидкості та ефективності трафіку. Друге місце посіла бібліотека </a:t>
            </a:r>
            <a:r>
              <a:rPr lang="en-US" dirty="0"/>
              <a:t>Socket.IO (0.69). </a:t>
            </a:r>
            <a:r>
              <a:rPr lang="uk-UA" dirty="0"/>
              <a:t>Вона має дещо більший </a:t>
            </a:r>
            <a:r>
              <a:rPr lang="uk-UA" dirty="0" err="1"/>
              <a:t>оверхед</a:t>
            </a:r>
            <a:r>
              <a:rPr lang="uk-UA" dirty="0"/>
              <a:t>, але компенсує це високою надійністю та вбудованими механізмами </a:t>
            </a:r>
            <a:r>
              <a:rPr lang="uk-UA" dirty="0" err="1"/>
              <a:t>перепідключення</a:t>
            </a:r>
            <a:r>
              <a:rPr lang="uk-UA" dirty="0"/>
              <a:t>. Цей результат став гіпотезою, яку було перевірено на практиці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Для верифікації було розроблено програмний комплекс на базі </a:t>
            </a:r>
            <a:r>
              <a:rPr lang="en-US" dirty="0"/>
              <a:t>Next.js </a:t>
            </a:r>
            <a:r>
              <a:rPr lang="uk-UA" dirty="0"/>
              <a:t>та </a:t>
            </a:r>
            <a:r>
              <a:rPr lang="en-US" dirty="0"/>
              <a:t>Node.js. </a:t>
            </a:r>
            <a:r>
              <a:rPr lang="uk-UA" dirty="0"/>
              <a:t>Ключова особливість реалізації — повна уніфікація. Усі шість каналів доставки працюють з єдиним </a:t>
            </a:r>
            <a:r>
              <a:rPr lang="en-US" dirty="0"/>
              <a:t>JSON-</a:t>
            </a:r>
            <a:r>
              <a:rPr lang="uk-UA" dirty="0"/>
              <a:t>форматом події, що містить часову мітку </a:t>
            </a:r>
            <a:r>
              <a:rPr lang="en-US" sz="1200" kern="1200" dirty="0" err="1">
                <a:solidFill>
                  <a:schemeClr val="tx1"/>
                </a:solidFill>
                <a:latin typeface="+mn-lt"/>
                <a:ea typeface="+mn-ea"/>
                <a:cs typeface="+mn-cs"/>
              </a:rPr>
              <a:t>sentAt</a:t>
            </a:r>
            <a:r>
              <a:rPr lang="en-US" dirty="0"/>
              <a:t>. </a:t>
            </a:r>
            <a:r>
              <a:rPr lang="uk-UA" dirty="0"/>
              <a:t>На стороні клієнта використовується універсальний </a:t>
            </a:r>
            <a:r>
              <a:rPr lang="en-US" dirty="0"/>
              <a:t>React-</a:t>
            </a:r>
            <a:r>
              <a:rPr lang="uk-UA" dirty="0"/>
              <a:t>хук </a:t>
            </a:r>
            <a:r>
              <a:rPr lang="en-US" sz="1200" kern="1200" dirty="0" err="1">
                <a:solidFill>
                  <a:schemeClr val="tx1"/>
                </a:solidFill>
                <a:latin typeface="+mn-lt"/>
                <a:ea typeface="+mn-ea"/>
                <a:cs typeface="+mn-cs"/>
              </a:rPr>
              <a:t>useExperiment</a:t>
            </a:r>
            <a:r>
              <a:rPr lang="en-US" dirty="0"/>
              <a:t> </a:t>
            </a:r>
            <a:r>
              <a:rPr lang="uk-UA" dirty="0"/>
              <a:t>з єдиним обробником </a:t>
            </a:r>
            <a:r>
              <a:rPr lang="en-US" sz="1200" kern="1200" dirty="0" err="1">
                <a:solidFill>
                  <a:schemeClr val="tx1"/>
                </a:solidFill>
                <a:latin typeface="+mn-lt"/>
                <a:ea typeface="+mn-ea"/>
                <a:cs typeface="+mn-cs"/>
              </a:rPr>
              <a:t>handleIncomingEvent</a:t>
            </a:r>
            <a:r>
              <a:rPr lang="en-US" dirty="0"/>
              <a:t>. </a:t>
            </a:r>
            <a:r>
              <a:rPr lang="uk-UA" dirty="0"/>
              <a:t>Це гарантує, що різниця в цифрах зумовлена саме транспортом, а не логікою обробки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C59A11-4164-5605-00D9-3951D8E1F8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625080-03AF-AA87-6E31-30BA26729F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B39404A-3B29-6485-C569-5B2AF6B8225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uk-UA" sz="1200" b="0" noProof="1">
                <a:solidFill>
                  <a:srgbClr val="0F172A"/>
                </a:solidFill>
                <a:latin typeface="Calibri" pitchFamily="34" charset="0"/>
                <a:ea typeface="Calibri" pitchFamily="34" charset="-122"/>
                <a:cs typeface="Calibri" pitchFamily="34" charset="-120"/>
              </a:rPr>
              <a:t>Результати практичного експерименту представлені як два порівняльні графіки: середньої затримки доставки повідомлення та середнього використаного мережевого трафіку. Синім кольором продемострований сценарій швидких оновлень для одного клієнта, оранжевий колір представляє сценарій рідких оновлень для одного клієнта та сірий колір представляй сценарій, де одразу декілька клієнтів отримують часто оновлення.</a:t>
            </a:r>
          </a:p>
          <a:p>
            <a:pPr marL="0" marR="0" lvl="0" indent="0" algn="l" defTabSz="914400" rtl="0" eaLnBrk="1" fontAlgn="auto" latinLnBrk="0" hangingPunct="1">
              <a:lnSpc>
                <a:spcPct val="100000"/>
              </a:lnSpc>
              <a:spcBef>
                <a:spcPts val="0"/>
              </a:spcBef>
              <a:spcAft>
                <a:spcPts val="0"/>
              </a:spcAft>
              <a:buClrTx/>
              <a:buSzTx/>
              <a:buFontTx/>
              <a:buNone/>
              <a:tabLst/>
              <a:defRPr/>
            </a:pPr>
            <a:r>
              <a:rPr lang="uk-UA" dirty="0"/>
              <a:t>Спочатку оглянемо графік середньої затримки. Практичні вимірювання підтвердили критичну слабкість </a:t>
            </a:r>
            <a:r>
              <a:rPr lang="en-US" dirty="0"/>
              <a:t>Polling-</a:t>
            </a:r>
            <a:r>
              <a:rPr lang="uk-UA" dirty="0"/>
              <a:t>технологій. У сценарії з рідкими подіями затримка </a:t>
            </a:r>
            <a:r>
              <a:rPr lang="en-US" dirty="0"/>
              <a:t>Short Polling </a:t>
            </a:r>
            <a:r>
              <a:rPr lang="uk-UA" dirty="0"/>
              <a:t>сягала майже однієї секунди. Натомість група </a:t>
            </a:r>
            <a:r>
              <a:rPr lang="en-US" dirty="0"/>
              <a:t>Persistent-</a:t>
            </a:r>
            <a:r>
              <a:rPr lang="uk-UA" dirty="0"/>
              <a:t>каналів (</a:t>
            </a:r>
            <a:r>
              <a:rPr lang="en-US" dirty="0"/>
              <a:t>SSE, WebSocket, Socket.IO) </a:t>
            </a:r>
            <a:r>
              <a:rPr lang="uk-UA" dirty="0"/>
              <a:t>продемонструвала стабільно низькі показники — в середньому менше 2 </a:t>
            </a:r>
            <a:r>
              <a:rPr lang="uk-UA" dirty="0" err="1"/>
              <a:t>мілісекунд</a:t>
            </a:r>
            <a:r>
              <a:rPr lang="uk-UA" dirty="0"/>
              <a:t>, незалежно від сценарію. Важливо зазначити, що додаткова логіка </a:t>
            </a:r>
            <a:r>
              <a:rPr lang="en-US" dirty="0" err="1"/>
              <a:t>GraphQL</a:t>
            </a:r>
            <a:r>
              <a:rPr lang="en-US" dirty="0"/>
              <a:t> Subscriptions </a:t>
            </a:r>
            <a:r>
              <a:rPr lang="uk-UA" dirty="0"/>
              <a:t>практично не вплинула на затримку, зберігаючи її на рівні «чистих» </a:t>
            </a:r>
            <a:r>
              <a:rPr lang="uk-UA" dirty="0" err="1"/>
              <a:t>сокетів</a:t>
            </a:r>
            <a:endParaRPr lang="en-US" dirty="0"/>
          </a:p>
        </p:txBody>
      </p:sp>
      <p:sp>
        <p:nvSpPr>
          <p:cNvPr id="4" name="Slide Number Placeholder 3">
            <a:extLst>
              <a:ext uri="{FF2B5EF4-FFF2-40B4-BE49-F238E27FC236}">
                <a16:creationId xmlns:a16="http://schemas.microsoft.com/office/drawing/2014/main" id="{587870B7-6ECF-AE59-CACB-515937B0B72B}"/>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8208929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A48BD-6A37-DAD8-4EB5-D0D5DAD3E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D7EE40-DA39-457F-2E2D-A4DB582CAE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0B08D1-C22A-C4F6-B6EB-2E3BDED37B00}"/>
              </a:ext>
            </a:extLst>
          </p:cNvPr>
          <p:cNvSpPr>
            <a:spLocks noGrp="1"/>
          </p:cNvSpPr>
          <p:nvPr>
            <p:ph type="body" idx="1"/>
          </p:nvPr>
        </p:nvSpPr>
        <p:spPr/>
        <p:txBody>
          <a:bodyPr/>
          <a:lstStyle/>
          <a:p>
            <a:r>
              <a:rPr lang="uk-UA" dirty="0"/>
              <a:t>Аналіз трафіку виявив цікаві закономірності. </a:t>
            </a:r>
            <a:r>
              <a:rPr lang="en-US" dirty="0"/>
              <a:t>WebSocket </a:t>
            </a:r>
            <a:r>
              <a:rPr lang="uk-UA" dirty="0"/>
              <a:t>виявився найбільш економним, особливо у багатокористувацькому режимі. Найбільший </a:t>
            </a:r>
            <a:r>
              <a:rPr lang="uk-UA" dirty="0" err="1"/>
              <a:t>оверхед</a:t>
            </a:r>
            <a:r>
              <a:rPr lang="uk-UA" dirty="0"/>
              <a:t> продемонстрували </a:t>
            </a:r>
            <a:r>
              <a:rPr lang="en-US" dirty="0" err="1"/>
              <a:t>GraphQL</a:t>
            </a:r>
            <a:r>
              <a:rPr lang="en-US" dirty="0"/>
              <a:t> Subscriptions </a:t>
            </a:r>
            <a:r>
              <a:rPr lang="uk-UA" dirty="0"/>
              <a:t>через масивну структуру </a:t>
            </a:r>
            <a:r>
              <a:rPr lang="en-US" dirty="0"/>
              <a:t>JSON-</a:t>
            </a:r>
            <a:r>
              <a:rPr lang="uk-UA" dirty="0"/>
              <a:t>відповідей, а також </a:t>
            </a:r>
            <a:r>
              <a:rPr lang="en-US" dirty="0"/>
              <a:t>Server-Sent Events </a:t>
            </a:r>
            <a:r>
              <a:rPr lang="uk-UA" dirty="0"/>
              <a:t>через текстовий формат передачі. Проте, навіть з урахуванням цього, </a:t>
            </a:r>
            <a:r>
              <a:rPr lang="en-US" dirty="0"/>
              <a:t>SSE </a:t>
            </a:r>
            <a:r>
              <a:rPr lang="uk-UA" dirty="0"/>
              <a:t>залишається значно ефективнішим за </a:t>
            </a:r>
            <a:r>
              <a:rPr lang="en-US" dirty="0"/>
              <a:t>Long Polling, </a:t>
            </a:r>
            <a:r>
              <a:rPr lang="uk-UA" dirty="0"/>
              <a:t>який на кожну подію змушений ініціювати новий </a:t>
            </a:r>
            <a:r>
              <a:rPr lang="en-US" dirty="0"/>
              <a:t>HTTP-</a:t>
            </a:r>
            <a:r>
              <a:rPr lang="uk-UA" dirty="0"/>
              <a:t>цикл з повною передачею заголовків</a:t>
            </a:r>
            <a:endParaRPr lang="en-US" dirty="0"/>
          </a:p>
        </p:txBody>
      </p:sp>
      <p:sp>
        <p:nvSpPr>
          <p:cNvPr id="4" name="Slide Number Placeholder 3">
            <a:extLst>
              <a:ext uri="{FF2B5EF4-FFF2-40B4-BE49-F238E27FC236}">
                <a16:creationId xmlns:a16="http://schemas.microsoft.com/office/drawing/2014/main" id="{75285927-805A-6FBB-EEED-C68930EA39B0}"/>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1245737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uk-UA" dirty="0"/>
              <a:t>Підсумовуючи дослідження, можна сформувати «матрицю вибору» для розробника:</a:t>
            </a:r>
          </a:p>
          <a:p>
            <a:r>
              <a:rPr lang="en-US" dirty="0"/>
              <a:t>WebSocket — </a:t>
            </a:r>
            <a:r>
              <a:rPr lang="uk-UA" dirty="0"/>
              <a:t>це базовий вибір для </a:t>
            </a:r>
            <a:r>
              <a:rPr lang="uk-UA" dirty="0" err="1"/>
              <a:t>двонапрямних</a:t>
            </a:r>
            <a:r>
              <a:rPr lang="uk-UA" dirty="0"/>
              <a:t> систем з високим навантаженням.</a:t>
            </a:r>
          </a:p>
          <a:p>
            <a:r>
              <a:rPr lang="en-US" dirty="0"/>
              <a:t>SSE — </a:t>
            </a:r>
            <a:r>
              <a:rPr lang="uk-UA" dirty="0"/>
              <a:t>ідеальне рішення для односпрямованих потоків (сповіщень), завдяки простоті та </a:t>
            </a:r>
            <a:r>
              <a:rPr lang="uk-UA" dirty="0" err="1"/>
              <a:t>нативності</a:t>
            </a:r>
            <a:r>
              <a:rPr lang="uk-UA" dirty="0"/>
              <a:t>.</a:t>
            </a:r>
          </a:p>
          <a:p>
            <a:r>
              <a:rPr lang="en-US" dirty="0"/>
              <a:t>Socket.IO </a:t>
            </a:r>
            <a:r>
              <a:rPr lang="uk-UA" dirty="0"/>
              <a:t>варто обирати, коли треба </a:t>
            </a:r>
            <a:r>
              <a:rPr lang="en-US" dirty="0"/>
              <a:t>WebSocket</a:t>
            </a:r>
            <a:r>
              <a:rPr lang="uk-UA" dirty="0"/>
              <a:t>, але критично важлива стійкість з’єднання в складних мережах.</a:t>
            </a:r>
          </a:p>
          <a:p>
            <a:r>
              <a:rPr lang="en-US" dirty="0" err="1"/>
              <a:t>GraphQL</a:t>
            </a:r>
            <a:r>
              <a:rPr lang="en-US" dirty="0"/>
              <a:t> Subscriptions </a:t>
            </a:r>
            <a:r>
              <a:rPr lang="uk-UA" dirty="0"/>
              <a:t>виправдані лише тоді, коли вся система вже побудована на </a:t>
            </a:r>
            <a:r>
              <a:rPr lang="en-US" dirty="0" err="1"/>
              <a:t>GraphQL</a:t>
            </a:r>
            <a:r>
              <a:rPr lang="en-US" dirty="0"/>
              <a:t>. </a:t>
            </a:r>
            <a:endParaRPr lang="uk-UA" dirty="0"/>
          </a:p>
          <a:p>
            <a:r>
              <a:rPr lang="uk-UA" dirty="0"/>
              <a:t>Експерименти підтвердили неефективність періодичного опитування. Застосування </a:t>
            </a:r>
            <a:r>
              <a:rPr lang="en-US" dirty="0"/>
              <a:t>Short </a:t>
            </a:r>
            <a:r>
              <a:rPr lang="uk-UA" dirty="0"/>
              <a:t>та </a:t>
            </a:r>
            <a:r>
              <a:rPr lang="en-US" dirty="0"/>
              <a:t>Long Polling </a:t>
            </a:r>
            <a:r>
              <a:rPr lang="uk-UA" dirty="0"/>
              <a:t>сьогодні виправдане лише як </a:t>
            </a:r>
            <a:r>
              <a:rPr lang="en-US" dirty="0"/>
              <a:t>fallback </a:t>
            </a:r>
            <a:r>
              <a:rPr lang="uk-UA" dirty="0"/>
              <a:t>для застарілих клієнтів.</a:t>
            </a:r>
          </a:p>
          <a:p>
            <a:r>
              <a:rPr lang="uk-UA" dirty="0"/>
              <a:t>У перспективі дану роботу можна покращити створивши нові, більш складні сценарії для тестування, або додати нові технології до порівняння.</a:t>
            </a:r>
          </a:p>
          <a:p>
            <a:r>
              <a:rPr lang="ru-RU" dirty="0" err="1"/>
              <a:t>Дякую</a:t>
            </a:r>
            <a:r>
              <a:rPr lang="ru-RU" dirty="0"/>
              <a:t> за </a:t>
            </a:r>
            <a:r>
              <a:rPr lang="ru-RU" dirty="0" err="1"/>
              <a:t>увагу</a:t>
            </a:r>
            <a:r>
              <a:rPr lang="ru-RU" dirty="0"/>
              <a:t>, </a:t>
            </a:r>
            <a:r>
              <a:rPr lang="ru-RU" dirty="0" err="1"/>
              <a:t>готовий</a:t>
            </a:r>
            <a:r>
              <a:rPr lang="ru-RU" dirty="0"/>
              <a:t> </a:t>
            </a:r>
            <a:r>
              <a:rPr lang="ru-RU" dirty="0" err="1"/>
              <a:t>продемонструвати</a:t>
            </a:r>
            <a:r>
              <a:rPr lang="ru-RU" dirty="0"/>
              <a:t> роботу </a:t>
            </a:r>
            <a:r>
              <a:rPr lang="ru-RU" dirty="0" err="1"/>
              <a:t>програми</a:t>
            </a:r>
            <a:r>
              <a:rPr lang="ru-RU" dirty="0"/>
              <a:t>!</a:t>
            </a:r>
            <a:endParaRPr lang="uk-UA"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нижнього колонтитула 1">
            <a:extLst>
              <a:ext uri="{FF2B5EF4-FFF2-40B4-BE49-F238E27FC236}">
                <a16:creationId xmlns:a16="http://schemas.microsoft.com/office/drawing/2014/main" id="{37BF09EE-5E26-B261-00D7-917CF661270B}"/>
              </a:ext>
            </a:extLst>
          </p:cNvPr>
          <p:cNvSpPr>
            <a:spLocks noGrp="1"/>
          </p:cNvSpPr>
          <p:nvPr>
            <p:ph type="ftr" sz="quarter" idx="3"/>
          </p:nvPr>
        </p:nvSpPr>
        <p:spPr>
          <a:xfrm>
            <a:off x="11585275" y="6474304"/>
            <a:ext cx="606725"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uk-UA" dirty="0"/>
              <a:t>1</a:t>
            </a:r>
          </a:p>
        </p:txBody>
      </p:sp>
    </p:spTree>
  </p:cSld>
  <p:clrMap bg1="lt1" tx1="dk1" bg2="lt2" tx2="dk2" accent1="accent1" accent2="accent2" accent3="accent3" accent4="accent4" accent5="accent5" accent6="accent6" hlink="hlink" folHlink="folHlink"/>
  <p:sldLayoutIdLst>
    <p:sldLayoutId id="2147483649" r:id="rId1"/>
  </p:sldLayoutIdLst>
  <p:hf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a:effectLst/>
      </p:bgPr>
    </p:bg>
    <p:spTree>
      <p:nvGrpSpPr>
        <p:cNvPr id="1" name=""/>
        <p:cNvGrpSpPr/>
        <p:nvPr/>
      </p:nvGrpSpPr>
      <p:grpSpPr>
        <a:xfrm>
          <a:off x="0" y="0"/>
          <a:ext cx="0" cy="0"/>
          <a:chOff x="0" y="0"/>
          <a:chExt cx="0" cy="0"/>
        </a:xfrm>
      </p:grpSpPr>
      <p:sp>
        <p:nvSpPr>
          <p:cNvPr id="3" name="Text 1"/>
          <p:cNvSpPr/>
          <p:nvPr/>
        </p:nvSpPr>
        <p:spPr>
          <a:xfrm>
            <a:off x="777240" y="594360"/>
            <a:ext cx="10972800" cy="365760"/>
          </a:xfrm>
          <a:prstGeom prst="rect">
            <a:avLst/>
          </a:prstGeom>
          <a:noFill/>
          <a:ln/>
        </p:spPr>
        <p:txBody>
          <a:bodyPr wrap="square" rtlCol="0" anchor="ctr"/>
          <a:lstStyle/>
          <a:p>
            <a:pPr marL="0" indent="0">
              <a:buNone/>
            </a:pPr>
            <a:r>
              <a:rPr lang="uk-UA" sz="1400" b="1" noProof="1">
                <a:solidFill>
                  <a:srgbClr val="2563EB"/>
                </a:solidFill>
                <a:latin typeface="Calibri" pitchFamily="34" charset="0"/>
                <a:ea typeface="Calibri" pitchFamily="34" charset="-122"/>
                <a:cs typeface="Calibri" pitchFamily="34" charset="-120"/>
              </a:rPr>
              <a:t>КВАЛІФІКАЦІЙНА РОБОТА</a:t>
            </a:r>
            <a:endParaRPr lang="uk-UA" sz="1400" noProof="1"/>
          </a:p>
        </p:txBody>
      </p:sp>
      <p:sp>
        <p:nvSpPr>
          <p:cNvPr id="4" name="Text 2"/>
          <p:cNvSpPr/>
          <p:nvPr/>
        </p:nvSpPr>
        <p:spPr>
          <a:xfrm>
            <a:off x="777240" y="1051560"/>
            <a:ext cx="10972800" cy="1828800"/>
          </a:xfrm>
          <a:prstGeom prst="rect">
            <a:avLst/>
          </a:prstGeom>
          <a:noFill/>
          <a:ln/>
        </p:spPr>
        <p:txBody>
          <a:bodyPr wrap="square" rtlCol="0" anchor="t"/>
          <a:lstStyle/>
          <a:p>
            <a:pPr marL="0" indent="0">
              <a:buNone/>
            </a:pPr>
            <a:r>
              <a:rPr lang="uk-UA" sz="3600" b="1" noProof="1">
                <a:solidFill>
                  <a:srgbClr val="0F172A"/>
                </a:solidFill>
                <a:latin typeface="Calibri" pitchFamily="34" charset="0"/>
                <a:ea typeface="Calibri" pitchFamily="34" charset="-122"/>
                <a:cs typeface="Calibri" pitchFamily="34" charset="-120"/>
              </a:rPr>
              <a:t>Дослідження технологій</a:t>
            </a:r>
            <a:r>
              <a:rPr lang="en-US" sz="3600" b="1" noProof="1">
                <a:solidFill>
                  <a:srgbClr val="0F172A"/>
                </a:solidFill>
                <a:latin typeface="Calibri" pitchFamily="34" charset="0"/>
                <a:ea typeface="Calibri" pitchFamily="34" charset="-122"/>
                <a:cs typeface="Calibri" pitchFamily="34" charset="-120"/>
              </a:rPr>
              <a:t> </a:t>
            </a:r>
            <a:r>
              <a:rPr lang="uk-UA" sz="3600" b="1" noProof="1">
                <a:solidFill>
                  <a:srgbClr val="0F172A"/>
                </a:solidFill>
                <a:latin typeface="Calibri" pitchFamily="34" charset="0"/>
                <a:ea typeface="Calibri" pitchFamily="34" charset="-122"/>
                <a:cs typeface="Calibri" pitchFamily="34" charset="-120"/>
              </a:rPr>
              <a:t>обміну даними у</a:t>
            </a:r>
            <a:r>
              <a:rPr lang="en-US" sz="3600" b="1" noProof="1">
                <a:solidFill>
                  <a:srgbClr val="0F172A"/>
                </a:solidFill>
                <a:latin typeface="Calibri" pitchFamily="34" charset="0"/>
                <a:ea typeface="Calibri" pitchFamily="34" charset="-122"/>
                <a:cs typeface="Calibri" pitchFamily="34" charset="-120"/>
              </a:rPr>
              <a:t> </a:t>
            </a:r>
            <a:r>
              <a:rPr lang="uk-UA" sz="3600" b="1" noProof="1">
                <a:solidFill>
                  <a:srgbClr val="0F172A"/>
                </a:solidFill>
                <a:latin typeface="Calibri" pitchFamily="34" charset="0"/>
                <a:ea typeface="Calibri" pitchFamily="34" charset="-122"/>
                <a:cs typeface="Calibri" pitchFamily="34" charset="-120"/>
              </a:rPr>
              <a:t>реальному часі</a:t>
            </a:r>
            <a:r>
              <a:rPr lang="en-US" sz="3600" b="1" noProof="1">
                <a:solidFill>
                  <a:srgbClr val="0F172A"/>
                </a:solidFill>
                <a:latin typeface="Calibri" pitchFamily="34" charset="0"/>
                <a:ea typeface="Calibri" pitchFamily="34" charset="-122"/>
                <a:cs typeface="Calibri" pitchFamily="34" charset="-120"/>
              </a:rPr>
              <a:t> </a:t>
            </a:r>
            <a:r>
              <a:rPr lang="uk-UA" sz="3600" b="1" noProof="1">
                <a:solidFill>
                  <a:srgbClr val="0F172A"/>
                </a:solidFill>
                <a:latin typeface="Calibri" pitchFamily="34" charset="0"/>
                <a:ea typeface="Calibri" pitchFamily="34" charset="-122"/>
                <a:cs typeface="Calibri" pitchFamily="34" charset="-120"/>
              </a:rPr>
              <a:t>між клієнтом та сервером</a:t>
            </a:r>
            <a:r>
              <a:rPr lang="en-US" sz="3600" b="1" noProof="1">
                <a:solidFill>
                  <a:srgbClr val="0F172A"/>
                </a:solidFill>
                <a:latin typeface="Calibri" pitchFamily="34" charset="0"/>
                <a:ea typeface="Calibri" pitchFamily="34" charset="-122"/>
                <a:cs typeface="Calibri" pitchFamily="34" charset="-120"/>
              </a:rPr>
              <a:t> </a:t>
            </a:r>
            <a:r>
              <a:rPr lang="ru-RU" sz="3600" b="1" noProof="1">
                <a:solidFill>
                  <a:srgbClr val="0F172A"/>
                </a:solidFill>
                <a:latin typeface="Calibri" pitchFamily="34" charset="0"/>
                <a:ea typeface="Calibri" pitchFamily="34" charset="-122"/>
                <a:cs typeface="Calibri" pitchFamily="34" charset="-120"/>
              </a:rPr>
              <a:t>та побудова моделі оцінки їх продуктивності у вебзастосунках</a:t>
            </a:r>
            <a:endParaRPr lang="uk-UA" sz="3600" noProof="1"/>
          </a:p>
        </p:txBody>
      </p:sp>
      <p:sp>
        <p:nvSpPr>
          <p:cNvPr id="5" name="Shape 3"/>
          <p:cNvSpPr/>
          <p:nvPr/>
        </p:nvSpPr>
        <p:spPr>
          <a:xfrm>
            <a:off x="777240" y="3063240"/>
            <a:ext cx="3840480" cy="109728"/>
          </a:xfrm>
          <a:prstGeom prst="rect">
            <a:avLst/>
          </a:prstGeom>
          <a:solidFill>
            <a:srgbClr val="2563EB"/>
          </a:solidFill>
          <a:ln w="12700">
            <a:solidFill>
              <a:srgbClr val="2563EB"/>
            </a:solidFill>
            <a:prstDash val="solid"/>
          </a:ln>
        </p:spPr>
        <p:txBody>
          <a:bodyPr/>
          <a:lstStyle/>
          <a:p>
            <a:endParaRPr lang="uk-UA" noProof="1"/>
          </a:p>
        </p:txBody>
      </p:sp>
      <p:sp>
        <p:nvSpPr>
          <p:cNvPr id="6" name="Text 4"/>
          <p:cNvSpPr/>
          <p:nvPr/>
        </p:nvSpPr>
        <p:spPr>
          <a:xfrm>
            <a:off x="777240" y="3246120"/>
            <a:ext cx="10972800" cy="457200"/>
          </a:xfrm>
          <a:prstGeom prst="rect">
            <a:avLst/>
          </a:prstGeom>
          <a:noFill/>
          <a:ln/>
        </p:spPr>
        <p:txBody>
          <a:bodyPr wrap="square" rtlCol="0" anchor="ctr"/>
          <a:lstStyle/>
          <a:p>
            <a:pPr marL="0" indent="0">
              <a:buNone/>
            </a:pPr>
            <a:endParaRPr lang="uk-UA" sz="1600" noProof="1"/>
          </a:p>
        </p:txBody>
      </p:sp>
      <p:sp>
        <p:nvSpPr>
          <p:cNvPr id="7" name="Shape 5"/>
          <p:cNvSpPr/>
          <p:nvPr/>
        </p:nvSpPr>
        <p:spPr>
          <a:xfrm>
            <a:off x="777240" y="4023360"/>
            <a:ext cx="5394960" cy="21488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sz="2000" noProof="1"/>
          </a:p>
        </p:txBody>
      </p:sp>
      <p:sp>
        <p:nvSpPr>
          <p:cNvPr id="8" name="Shape 6"/>
          <p:cNvSpPr/>
          <p:nvPr/>
        </p:nvSpPr>
        <p:spPr>
          <a:xfrm>
            <a:off x="777240" y="3977640"/>
            <a:ext cx="91440" cy="2148840"/>
          </a:xfrm>
          <a:prstGeom prst="rect">
            <a:avLst/>
          </a:prstGeom>
          <a:solidFill>
            <a:srgbClr val="2563EB"/>
          </a:solidFill>
          <a:ln w="12700">
            <a:solidFill>
              <a:srgbClr val="2563EB"/>
            </a:solidFill>
            <a:prstDash val="solid"/>
          </a:ln>
        </p:spPr>
        <p:txBody>
          <a:bodyPr/>
          <a:lstStyle/>
          <a:p>
            <a:endParaRPr lang="uk-UA" noProof="1"/>
          </a:p>
        </p:txBody>
      </p:sp>
      <p:sp>
        <p:nvSpPr>
          <p:cNvPr id="9" name="Text 7"/>
          <p:cNvSpPr/>
          <p:nvPr/>
        </p:nvSpPr>
        <p:spPr>
          <a:xfrm>
            <a:off x="1005840" y="4160520"/>
            <a:ext cx="502920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Виконавець та керівник</a:t>
            </a:r>
            <a:endParaRPr lang="uk-UA" sz="2000" noProof="1"/>
          </a:p>
        </p:txBody>
      </p:sp>
      <p:sp>
        <p:nvSpPr>
          <p:cNvPr id="10" name="Text 8"/>
          <p:cNvSpPr/>
          <p:nvPr/>
        </p:nvSpPr>
        <p:spPr>
          <a:xfrm>
            <a:off x="1005840" y="4544568"/>
            <a:ext cx="5029200" cy="141732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Виконав: Кащенко  Ю. Є.</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Група: ІПЗм-24-3</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Керівник: Кравець Н. С.</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Рік: 2026</a:t>
            </a:r>
            <a:endParaRPr lang="uk-UA" noProof="1"/>
          </a:p>
        </p:txBody>
      </p:sp>
      <p:sp>
        <p:nvSpPr>
          <p:cNvPr id="11" name="Shape 9"/>
          <p:cNvSpPr/>
          <p:nvPr/>
        </p:nvSpPr>
        <p:spPr>
          <a:xfrm>
            <a:off x="6482342" y="3977640"/>
            <a:ext cx="4965192" cy="2148840"/>
          </a:xfrm>
          <a:prstGeom prst="roundRect">
            <a:avLst/>
          </a:prstGeom>
          <a:solidFill>
            <a:srgbClr val="0B1220"/>
          </a:solidFill>
          <a:ln w="12700">
            <a:solidFill>
              <a:srgbClr val="0B1220"/>
            </a:solidFill>
            <a:prstDash val="solid"/>
          </a:ln>
          <a:effectLst>
            <a:outerShdw blurRad="50800" dist="25400" dir="2700000" algn="bl" rotWithShape="0">
              <a:srgbClr val="000000">
                <a:alpha val="22000"/>
              </a:srgbClr>
            </a:outerShdw>
          </a:effectLst>
        </p:spPr>
        <p:txBody>
          <a:bodyPr/>
          <a:lstStyle/>
          <a:p>
            <a:endParaRPr lang="uk-UA" noProof="1"/>
          </a:p>
        </p:txBody>
      </p:sp>
      <p:sp>
        <p:nvSpPr>
          <p:cNvPr id="12" name="Text 10"/>
          <p:cNvSpPr/>
          <p:nvPr/>
        </p:nvSpPr>
        <p:spPr>
          <a:xfrm>
            <a:off x="6675120" y="4160520"/>
            <a:ext cx="4572000" cy="320040"/>
          </a:xfrm>
          <a:prstGeom prst="rect">
            <a:avLst/>
          </a:prstGeom>
          <a:noFill/>
          <a:ln/>
        </p:spPr>
        <p:txBody>
          <a:bodyPr wrap="square" rtlCol="0" anchor="ctr"/>
          <a:lstStyle/>
          <a:p>
            <a:pPr marL="0" indent="0">
              <a:buNone/>
            </a:pPr>
            <a:r>
              <a:rPr lang="uk-UA" sz="2000" b="1" noProof="1">
                <a:solidFill>
                  <a:srgbClr val="93C5FD"/>
                </a:solidFill>
                <a:latin typeface="Calibri" pitchFamily="34" charset="0"/>
                <a:ea typeface="Calibri" pitchFamily="34" charset="-122"/>
                <a:cs typeface="Calibri" pitchFamily="34" charset="-120"/>
              </a:rPr>
              <a:t>Ідея</a:t>
            </a:r>
            <a:endParaRPr lang="uk-UA" sz="2000" noProof="1"/>
          </a:p>
        </p:txBody>
      </p:sp>
      <p:sp>
        <p:nvSpPr>
          <p:cNvPr id="13" name="Text 11"/>
          <p:cNvSpPr/>
          <p:nvPr/>
        </p:nvSpPr>
        <p:spPr>
          <a:xfrm>
            <a:off x="6675120" y="4526280"/>
            <a:ext cx="4572000" cy="1645920"/>
          </a:xfrm>
          <a:prstGeom prst="rect">
            <a:avLst/>
          </a:prstGeom>
          <a:noFill/>
          <a:ln/>
        </p:spPr>
        <p:txBody>
          <a:bodyPr wrap="square" rtlCol="0" anchor="t"/>
          <a:lstStyle/>
          <a:p>
            <a:pPr marL="0" indent="0">
              <a:buNone/>
            </a:pPr>
            <a:r>
              <a:rPr lang="uk-UA" noProof="1">
                <a:solidFill>
                  <a:srgbClr val="E2E8F0"/>
                </a:solidFill>
                <a:latin typeface="Calibri" pitchFamily="34" charset="0"/>
                <a:ea typeface="Calibri" pitchFamily="34" charset="-122"/>
                <a:cs typeface="Calibri" pitchFamily="34" charset="-120"/>
              </a:rPr>
              <a:t>Одна задача → 6 каналів доставки</a:t>
            </a:r>
            <a:endParaRPr lang="uk-UA" noProof="1"/>
          </a:p>
          <a:p>
            <a:pPr marL="0" indent="0">
              <a:buNone/>
            </a:pPr>
            <a:r>
              <a:rPr lang="uk-UA" noProof="1">
                <a:solidFill>
                  <a:srgbClr val="E2E8F0"/>
                </a:solidFill>
                <a:latin typeface="Calibri" pitchFamily="34" charset="0"/>
                <a:ea typeface="Calibri" pitchFamily="34" charset="-122"/>
                <a:cs typeface="Calibri" pitchFamily="34" charset="-120"/>
              </a:rPr>
              <a:t>Порівняння за затримкою, оверхедом, масштабуванням + багатокритеріальний вибір</a:t>
            </a:r>
            <a:endParaRPr lang="uk-UA" noProof="1"/>
          </a:p>
        </p:txBody>
      </p:sp>
      <p:sp>
        <p:nvSpPr>
          <p:cNvPr id="14" name="TextBox 13">
            <a:extLst>
              <a:ext uri="{FF2B5EF4-FFF2-40B4-BE49-F238E27FC236}">
                <a16:creationId xmlns:a16="http://schemas.microsoft.com/office/drawing/2014/main" id="{E301A29A-A6A0-E59F-6CC2-71416934A16C}"/>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Структура роботи</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60020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6" name="Shape 4"/>
          <p:cNvSpPr/>
          <p:nvPr/>
        </p:nvSpPr>
        <p:spPr>
          <a:xfrm>
            <a:off x="960120" y="181051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960120" y="182880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1</a:t>
            </a:r>
            <a:endParaRPr lang="uk-UA" sz="1400" noProof="1"/>
          </a:p>
        </p:txBody>
      </p:sp>
      <p:sp>
        <p:nvSpPr>
          <p:cNvPr id="8" name="Text 6"/>
          <p:cNvSpPr/>
          <p:nvPr/>
        </p:nvSpPr>
        <p:spPr>
          <a:xfrm>
            <a:off x="1463040" y="174650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1. Аналіз предметної галузі</a:t>
            </a:r>
            <a:endParaRPr lang="uk-UA" sz="1800" noProof="1"/>
          </a:p>
        </p:txBody>
      </p:sp>
      <p:sp>
        <p:nvSpPr>
          <p:cNvPr id="9" name="Text 7"/>
          <p:cNvSpPr/>
          <p:nvPr/>
        </p:nvSpPr>
        <p:spPr>
          <a:xfrm>
            <a:off x="1463040" y="2057400"/>
            <a:ext cx="4434840" cy="320040"/>
          </a:xfrm>
          <a:prstGeom prst="rect">
            <a:avLst/>
          </a:prstGeom>
          <a:noFill/>
          <a:ln/>
        </p:spPr>
        <p:txBody>
          <a:bodyPr wrap="square" rtlCol="0" anchor="ctr"/>
          <a:lstStyle/>
          <a:p>
            <a:pPr marL="0" indent="0">
              <a:buNone/>
            </a:pPr>
            <a:r>
              <a:rPr lang="uk-UA" sz="1300" noProof="1">
                <a:solidFill>
                  <a:srgbClr val="475569"/>
                </a:solidFill>
                <a:latin typeface="Calibri" pitchFamily="34" charset="0"/>
                <a:ea typeface="Calibri" pitchFamily="34" charset="-122"/>
                <a:cs typeface="Calibri" pitchFamily="34" charset="-120"/>
              </a:rPr>
              <a:t>сценарії, вимоги, спектр технологій</a:t>
            </a:r>
            <a:endParaRPr lang="uk-UA" sz="1300" noProof="1"/>
          </a:p>
        </p:txBody>
      </p:sp>
      <p:sp>
        <p:nvSpPr>
          <p:cNvPr id="10" name="Shape 8"/>
          <p:cNvSpPr/>
          <p:nvPr/>
        </p:nvSpPr>
        <p:spPr>
          <a:xfrm>
            <a:off x="6492240" y="160020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11" name="Shape 9"/>
          <p:cNvSpPr/>
          <p:nvPr/>
        </p:nvSpPr>
        <p:spPr>
          <a:xfrm>
            <a:off x="6675120" y="181051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12" name="Text 10"/>
          <p:cNvSpPr/>
          <p:nvPr/>
        </p:nvSpPr>
        <p:spPr>
          <a:xfrm>
            <a:off x="6675120" y="182880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2</a:t>
            </a:r>
            <a:endParaRPr lang="uk-UA" sz="1400" noProof="1"/>
          </a:p>
        </p:txBody>
      </p:sp>
      <p:sp>
        <p:nvSpPr>
          <p:cNvPr id="13" name="Text 11"/>
          <p:cNvSpPr/>
          <p:nvPr/>
        </p:nvSpPr>
        <p:spPr>
          <a:xfrm>
            <a:off x="7178040" y="174650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2. Огляд літератури</a:t>
            </a:r>
            <a:endParaRPr lang="uk-UA" sz="1800" noProof="1"/>
          </a:p>
        </p:txBody>
      </p:sp>
      <p:sp>
        <p:nvSpPr>
          <p:cNvPr id="14" name="Text 12"/>
          <p:cNvSpPr/>
          <p:nvPr/>
        </p:nvSpPr>
        <p:spPr>
          <a:xfrm>
            <a:off x="7178040" y="2057400"/>
            <a:ext cx="4434840" cy="320040"/>
          </a:xfrm>
          <a:prstGeom prst="rect">
            <a:avLst/>
          </a:prstGeom>
          <a:noFill/>
          <a:ln/>
        </p:spPr>
        <p:txBody>
          <a:bodyPr wrap="square" rtlCol="0" anchor="ctr"/>
          <a:lstStyle/>
          <a:p>
            <a:pPr marL="0" indent="0">
              <a:buNone/>
            </a:pPr>
            <a:r>
              <a:rPr lang="uk-UA" sz="1300" noProof="1">
                <a:solidFill>
                  <a:srgbClr val="475569"/>
                </a:solidFill>
                <a:latin typeface="Calibri" pitchFamily="34" charset="0"/>
                <a:ea typeface="Calibri" pitchFamily="34" charset="-122"/>
                <a:cs typeface="Calibri" pitchFamily="34" charset="-120"/>
              </a:rPr>
              <a:t>стандарти, документація, порівняльні роботи</a:t>
            </a:r>
            <a:endParaRPr lang="uk-UA" sz="1300" noProof="1"/>
          </a:p>
        </p:txBody>
      </p:sp>
      <p:sp>
        <p:nvSpPr>
          <p:cNvPr id="15" name="Shape 13"/>
          <p:cNvSpPr/>
          <p:nvPr/>
        </p:nvSpPr>
        <p:spPr>
          <a:xfrm>
            <a:off x="777240" y="292608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16" name="Shape 14"/>
          <p:cNvSpPr/>
          <p:nvPr/>
        </p:nvSpPr>
        <p:spPr>
          <a:xfrm>
            <a:off x="960120" y="313639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17" name="Text 15"/>
          <p:cNvSpPr/>
          <p:nvPr/>
        </p:nvSpPr>
        <p:spPr>
          <a:xfrm>
            <a:off x="960120" y="315468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3</a:t>
            </a:r>
            <a:endParaRPr lang="uk-UA" sz="1400" noProof="1"/>
          </a:p>
        </p:txBody>
      </p:sp>
      <p:sp>
        <p:nvSpPr>
          <p:cNvPr id="18" name="Text 16"/>
          <p:cNvSpPr/>
          <p:nvPr/>
        </p:nvSpPr>
        <p:spPr>
          <a:xfrm>
            <a:off x="1463040" y="3072384"/>
            <a:ext cx="4434840" cy="320040"/>
          </a:xfrm>
          <a:prstGeom prst="rect">
            <a:avLst/>
          </a:prstGeom>
          <a:noFill/>
          <a:ln/>
        </p:spPr>
        <p:txBody>
          <a:bodyPr wrap="square" rtlCol="0" anchor="ctr"/>
          <a:lstStyle/>
          <a:p>
            <a:r>
              <a:rPr lang="uk-UA" sz="1800" b="1" noProof="1">
                <a:solidFill>
                  <a:srgbClr val="0F172A"/>
                </a:solidFill>
                <a:latin typeface="Calibri" pitchFamily="34" charset="0"/>
                <a:ea typeface="Calibri" pitchFamily="34" charset="-122"/>
                <a:cs typeface="Calibri" pitchFamily="34" charset="-120"/>
              </a:rPr>
              <a:t>3</a:t>
            </a:r>
            <a:r>
              <a:rPr lang="uk-UA" b="1" noProof="1">
                <a:solidFill>
                  <a:srgbClr val="0F172A"/>
                </a:solidFill>
                <a:latin typeface="Calibri" pitchFamily="34" charset="0"/>
                <a:ea typeface="Calibri" pitchFamily="34" charset="-122"/>
                <a:cs typeface="Calibri" pitchFamily="34" charset="-120"/>
              </a:rPr>
              <a:t>. Теоретичне дослідження</a:t>
            </a:r>
            <a:endParaRPr lang="uk-UA" noProof="1"/>
          </a:p>
        </p:txBody>
      </p:sp>
      <p:sp>
        <p:nvSpPr>
          <p:cNvPr id="19" name="Text 17"/>
          <p:cNvSpPr/>
          <p:nvPr/>
        </p:nvSpPr>
        <p:spPr>
          <a:xfrm>
            <a:off x="1463040" y="3383280"/>
            <a:ext cx="4434840" cy="320040"/>
          </a:xfrm>
          <a:prstGeom prst="rect">
            <a:avLst/>
          </a:prstGeom>
          <a:noFill/>
          <a:ln/>
        </p:spPr>
        <p:txBody>
          <a:bodyPr wrap="square" rtlCol="0" anchor="ctr"/>
          <a:lstStyle/>
          <a:p>
            <a:r>
              <a:rPr lang="uk-UA" sz="1300" noProof="1">
                <a:solidFill>
                  <a:srgbClr val="475569"/>
                </a:solidFill>
                <a:latin typeface="Calibri" pitchFamily="34" charset="0"/>
                <a:ea typeface="Calibri" pitchFamily="34" charset="-122"/>
                <a:cs typeface="Calibri" pitchFamily="34" charset="-120"/>
              </a:rPr>
              <a:t>багатокритеріальний вибір (Pareto)</a:t>
            </a:r>
            <a:endParaRPr lang="uk-UA" sz="1300" noProof="1"/>
          </a:p>
        </p:txBody>
      </p:sp>
      <p:sp>
        <p:nvSpPr>
          <p:cNvPr id="20" name="Shape 18"/>
          <p:cNvSpPr/>
          <p:nvPr/>
        </p:nvSpPr>
        <p:spPr>
          <a:xfrm>
            <a:off x="6492240" y="292608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21" name="Shape 19"/>
          <p:cNvSpPr/>
          <p:nvPr/>
        </p:nvSpPr>
        <p:spPr>
          <a:xfrm>
            <a:off x="6675120" y="313639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22" name="Text 20"/>
          <p:cNvSpPr/>
          <p:nvPr/>
        </p:nvSpPr>
        <p:spPr>
          <a:xfrm>
            <a:off x="6675120" y="315468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4</a:t>
            </a:r>
            <a:endParaRPr lang="uk-UA" sz="1400" noProof="1"/>
          </a:p>
        </p:txBody>
      </p:sp>
      <p:sp>
        <p:nvSpPr>
          <p:cNvPr id="23" name="Text 21"/>
          <p:cNvSpPr/>
          <p:nvPr/>
        </p:nvSpPr>
        <p:spPr>
          <a:xfrm>
            <a:off x="7178040" y="307238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4. Дослідження затримки</a:t>
            </a:r>
            <a:endParaRPr lang="uk-UA" sz="1800" noProof="1"/>
          </a:p>
        </p:txBody>
      </p:sp>
      <p:sp>
        <p:nvSpPr>
          <p:cNvPr id="24" name="Text 22"/>
          <p:cNvSpPr/>
          <p:nvPr/>
        </p:nvSpPr>
        <p:spPr>
          <a:xfrm>
            <a:off x="7178040" y="3383280"/>
            <a:ext cx="4434840" cy="320040"/>
          </a:xfrm>
          <a:prstGeom prst="rect">
            <a:avLst/>
          </a:prstGeom>
          <a:noFill/>
          <a:ln/>
        </p:spPr>
        <p:txBody>
          <a:bodyPr wrap="square" rtlCol="0" anchor="ctr"/>
          <a:lstStyle/>
          <a:p>
            <a:pPr marL="0" indent="0">
              <a:buNone/>
            </a:pPr>
            <a:r>
              <a:rPr lang="uk-UA" sz="1300" noProof="1">
                <a:solidFill>
                  <a:schemeClr val="accent3">
                    <a:lumMod val="50000"/>
                  </a:schemeClr>
                </a:solidFill>
              </a:rPr>
              <a:t>результати практичного дослідження щодо затримки</a:t>
            </a:r>
          </a:p>
        </p:txBody>
      </p:sp>
      <p:sp>
        <p:nvSpPr>
          <p:cNvPr id="25" name="Shape 23"/>
          <p:cNvSpPr/>
          <p:nvPr/>
        </p:nvSpPr>
        <p:spPr>
          <a:xfrm>
            <a:off x="777240" y="425196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26" name="Shape 24"/>
          <p:cNvSpPr/>
          <p:nvPr/>
        </p:nvSpPr>
        <p:spPr>
          <a:xfrm>
            <a:off x="960120" y="446227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27" name="Text 25"/>
          <p:cNvSpPr/>
          <p:nvPr/>
        </p:nvSpPr>
        <p:spPr>
          <a:xfrm>
            <a:off x="960120" y="448056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5</a:t>
            </a:r>
            <a:endParaRPr lang="uk-UA" sz="1400" noProof="1"/>
          </a:p>
        </p:txBody>
      </p:sp>
      <p:sp>
        <p:nvSpPr>
          <p:cNvPr id="28" name="Text 26"/>
          <p:cNvSpPr/>
          <p:nvPr/>
        </p:nvSpPr>
        <p:spPr>
          <a:xfrm>
            <a:off x="1463040" y="439826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4. Дослідження використаного трафіку</a:t>
            </a:r>
            <a:endParaRPr lang="uk-UA" sz="1800" noProof="1"/>
          </a:p>
        </p:txBody>
      </p:sp>
      <p:sp>
        <p:nvSpPr>
          <p:cNvPr id="29" name="Text 27"/>
          <p:cNvSpPr/>
          <p:nvPr/>
        </p:nvSpPr>
        <p:spPr>
          <a:xfrm>
            <a:off x="1463040" y="4709160"/>
            <a:ext cx="4434840" cy="320040"/>
          </a:xfrm>
          <a:prstGeom prst="rect">
            <a:avLst/>
          </a:prstGeom>
          <a:noFill/>
          <a:ln/>
        </p:spPr>
        <p:txBody>
          <a:bodyPr wrap="square" rtlCol="0" anchor="ctr"/>
          <a:lstStyle/>
          <a:p>
            <a:pPr marL="0" indent="0">
              <a:buNone/>
            </a:pPr>
            <a:r>
              <a:rPr lang="ru-RU" sz="1300" noProof="1">
                <a:solidFill>
                  <a:srgbClr val="475569"/>
                </a:solidFill>
                <a:latin typeface="Calibri" pitchFamily="34" charset="0"/>
                <a:ea typeface="Calibri" pitchFamily="34" charset="-122"/>
                <a:cs typeface="Calibri" pitchFamily="34" charset="-120"/>
              </a:rPr>
              <a:t>результати практичного дослідження щодо трафіку</a:t>
            </a:r>
          </a:p>
        </p:txBody>
      </p:sp>
      <p:sp>
        <p:nvSpPr>
          <p:cNvPr id="30" name="Shape 28"/>
          <p:cNvSpPr/>
          <p:nvPr/>
        </p:nvSpPr>
        <p:spPr>
          <a:xfrm>
            <a:off x="6492240" y="4251960"/>
            <a:ext cx="5257800" cy="822960"/>
          </a:xfrm>
          <a:prstGeom prst="roundRect">
            <a:avLst/>
          </a:prstGeom>
          <a:solidFill>
            <a:srgbClr val="FFFFFF"/>
          </a:solidFill>
          <a:ln w="12700">
            <a:solidFill>
              <a:srgbClr val="E2E8F0"/>
            </a:solidFill>
            <a:prstDash val="solid"/>
          </a:ln>
          <a:effectLst>
            <a:outerShdw blurRad="38100" dist="19050" dir="2700000" algn="bl" rotWithShape="0">
              <a:srgbClr val="000000">
                <a:alpha val="14000"/>
              </a:srgbClr>
            </a:outerShdw>
          </a:effectLst>
        </p:spPr>
        <p:txBody>
          <a:bodyPr/>
          <a:lstStyle/>
          <a:p>
            <a:endParaRPr lang="uk-UA" noProof="1"/>
          </a:p>
        </p:txBody>
      </p:sp>
      <p:sp>
        <p:nvSpPr>
          <p:cNvPr id="31" name="Shape 29"/>
          <p:cNvSpPr/>
          <p:nvPr/>
        </p:nvSpPr>
        <p:spPr>
          <a:xfrm>
            <a:off x="6675120" y="4462272"/>
            <a:ext cx="402336" cy="402336"/>
          </a:xfrm>
          <a:prstGeom prst="ellipse">
            <a:avLst/>
          </a:prstGeom>
          <a:solidFill>
            <a:srgbClr val="2563EB"/>
          </a:solidFill>
          <a:ln w="12700">
            <a:solidFill>
              <a:srgbClr val="2563EB"/>
            </a:solidFill>
            <a:prstDash val="solid"/>
          </a:ln>
        </p:spPr>
        <p:txBody>
          <a:bodyPr/>
          <a:lstStyle/>
          <a:p>
            <a:endParaRPr lang="uk-UA" noProof="1"/>
          </a:p>
        </p:txBody>
      </p:sp>
      <p:sp>
        <p:nvSpPr>
          <p:cNvPr id="32" name="Text 30"/>
          <p:cNvSpPr/>
          <p:nvPr/>
        </p:nvSpPr>
        <p:spPr>
          <a:xfrm>
            <a:off x="6675120" y="4480560"/>
            <a:ext cx="402336" cy="365760"/>
          </a:xfrm>
          <a:prstGeom prst="rect">
            <a:avLst/>
          </a:prstGeom>
          <a:noFill/>
          <a:ln/>
        </p:spPr>
        <p:txBody>
          <a:bodyPr wrap="square" rtlCol="0" anchor="ctr"/>
          <a:lstStyle/>
          <a:p>
            <a:pPr marL="0" indent="0" algn="ctr">
              <a:buNone/>
            </a:pPr>
            <a:r>
              <a:rPr lang="uk-UA" sz="1400" b="1" noProof="1">
                <a:solidFill>
                  <a:srgbClr val="FFFFFF"/>
                </a:solidFill>
                <a:latin typeface="Calibri" pitchFamily="34" charset="0"/>
                <a:ea typeface="Calibri" pitchFamily="34" charset="-122"/>
                <a:cs typeface="Calibri" pitchFamily="34" charset="-120"/>
              </a:rPr>
              <a:t>6</a:t>
            </a:r>
            <a:endParaRPr lang="uk-UA" sz="1400" noProof="1"/>
          </a:p>
        </p:txBody>
      </p:sp>
      <p:sp>
        <p:nvSpPr>
          <p:cNvPr id="33" name="Text 31"/>
          <p:cNvSpPr/>
          <p:nvPr/>
        </p:nvSpPr>
        <p:spPr>
          <a:xfrm>
            <a:off x="7178040" y="4398264"/>
            <a:ext cx="4434840" cy="320040"/>
          </a:xfrm>
          <a:prstGeom prst="rect">
            <a:avLst/>
          </a:prstGeom>
          <a:noFill/>
          <a:ln/>
        </p:spPr>
        <p:txBody>
          <a:bodyPr wrap="square" rtlCol="0" anchor="ctr"/>
          <a:lstStyle/>
          <a:p>
            <a:pPr marL="0" indent="0">
              <a:buNone/>
            </a:pPr>
            <a:r>
              <a:rPr lang="uk-UA" sz="1800" b="1" noProof="1">
                <a:solidFill>
                  <a:srgbClr val="0F172A"/>
                </a:solidFill>
                <a:latin typeface="Calibri" pitchFamily="34" charset="0"/>
                <a:ea typeface="Calibri" pitchFamily="34" charset="-122"/>
                <a:cs typeface="Calibri" pitchFamily="34" charset="-120"/>
              </a:rPr>
              <a:t>Підсумок</a:t>
            </a:r>
            <a:endParaRPr lang="uk-UA" sz="1800" noProof="1"/>
          </a:p>
        </p:txBody>
      </p:sp>
      <p:sp>
        <p:nvSpPr>
          <p:cNvPr id="34" name="Text 32"/>
          <p:cNvSpPr/>
          <p:nvPr/>
        </p:nvSpPr>
        <p:spPr>
          <a:xfrm>
            <a:off x="7178040" y="4709160"/>
            <a:ext cx="4434840" cy="320040"/>
          </a:xfrm>
          <a:prstGeom prst="rect">
            <a:avLst/>
          </a:prstGeom>
          <a:noFill/>
          <a:ln/>
        </p:spPr>
        <p:txBody>
          <a:bodyPr wrap="square" rtlCol="0" anchor="ctr"/>
          <a:lstStyle/>
          <a:p>
            <a:pPr marL="0" indent="0">
              <a:buNone/>
            </a:pPr>
            <a:r>
              <a:rPr lang="uk-UA" sz="1300" noProof="1">
                <a:solidFill>
                  <a:srgbClr val="475569"/>
                </a:solidFill>
                <a:latin typeface="Calibri" pitchFamily="34" charset="0"/>
                <a:ea typeface="Calibri" pitchFamily="34" charset="-122"/>
                <a:cs typeface="Calibri" pitchFamily="34" charset="-120"/>
              </a:rPr>
              <a:t>висновки та рекомендації вибору технології</a:t>
            </a:r>
            <a:endParaRPr lang="uk-UA" sz="1300" noProof="1"/>
          </a:p>
        </p:txBody>
      </p:sp>
      <p:sp>
        <p:nvSpPr>
          <p:cNvPr id="4" name="TextBox 3">
            <a:extLst>
              <a:ext uri="{FF2B5EF4-FFF2-40B4-BE49-F238E27FC236}">
                <a16:creationId xmlns:a16="http://schemas.microsoft.com/office/drawing/2014/main" id="{1725D575-91E7-56E6-06FB-19D6F20B703F}"/>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45720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1. Аналіз предметної галузі</a:t>
            </a:r>
            <a:endParaRPr lang="uk-UA" sz="3200" noProof="1"/>
          </a:p>
        </p:txBody>
      </p:sp>
      <p:sp>
        <p:nvSpPr>
          <p:cNvPr id="3" name="Shape 1"/>
          <p:cNvSpPr/>
          <p:nvPr/>
        </p:nvSpPr>
        <p:spPr>
          <a:xfrm>
            <a:off x="685800" y="109270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640080" y="2001520"/>
            <a:ext cx="3388361" cy="31394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6" name="Shape 4"/>
          <p:cNvSpPr/>
          <p:nvPr/>
        </p:nvSpPr>
        <p:spPr>
          <a:xfrm>
            <a:off x="640080" y="2001520"/>
            <a:ext cx="91440" cy="3139200"/>
          </a:xfrm>
          <a:prstGeom prst="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868680" y="2184400"/>
            <a:ext cx="333756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Типові сценарії</a:t>
            </a:r>
            <a:endParaRPr lang="uk-UA" sz="2400" noProof="1"/>
          </a:p>
        </p:txBody>
      </p:sp>
      <p:sp>
        <p:nvSpPr>
          <p:cNvPr id="8" name="Text 6"/>
          <p:cNvSpPr/>
          <p:nvPr/>
        </p:nvSpPr>
        <p:spPr>
          <a:xfrm>
            <a:off x="914400" y="2664460"/>
            <a:ext cx="3337560" cy="3794760"/>
          </a:xfrm>
          <a:prstGeom prst="rect">
            <a:avLst/>
          </a:prstGeom>
          <a:noFill/>
          <a:ln/>
        </p:spPr>
        <p:txBody>
          <a:bodyPr wrap="square" rtlCol="0" anchor="t"/>
          <a:lstStyle/>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Чати, сповіщення</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Стрічки подій</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Моніторинг</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Онлайн-торгівля / котирування</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Спільна робота</a:t>
            </a:r>
            <a:endParaRPr lang="uk-UA" noProof="1"/>
          </a:p>
        </p:txBody>
      </p:sp>
      <p:sp>
        <p:nvSpPr>
          <p:cNvPr id="9" name="Shape 7"/>
          <p:cNvSpPr/>
          <p:nvPr/>
        </p:nvSpPr>
        <p:spPr>
          <a:xfrm>
            <a:off x="4389120" y="2001520"/>
            <a:ext cx="3388361" cy="31394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0" name="Shape 8"/>
          <p:cNvSpPr/>
          <p:nvPr/>
        </p:nvSpPr>
        <p:spPr>
          <a:xfrm>
            <a:off x="4389120" y="2001520"/>
            <a:ext cx="91440" cy="3139200"/>
          </a:xfrm>
          <a:prstGeom prst="rect">
            <a:avLst/>
          </a:prstGeom>
          <a:solidFill>
            <a:srgbClr val="22C55E"/>
          </a:solidFill>
          <a:ln w="12700">
            <a:solidFill>
              <a:srgbClr val="22C55E"/>
            </a:solidFill>
            <a:prstDash val="solid"/>
          </a:ln>
        </p:spPr>
        <p:txBody>
          <a:bodyPr/>
          <a:lstStyle/>
          <a:p>
            <a:endParaRPr lang="uk-UA" noProof="1"/>
          </a:p>
        </p:txBody>
      </p:sp>
      <p:sp>
        <p:nvSpPr>
          <p:cNvPr id="11" name="Text 9"/>
          <p:cNvSpPr/>
          <p:nvPr/>
        </p:nvSpPr>
        <p:spPr>
          <a:xfrm>
            <a:off x="4617720" y="2184400"/>
            <a:ext cx="333756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Ключові вимоги</a:t>
            </a:r>
            <a:endParaRPr lang="uk-UA" sz="2400" noProof="1"/>
          </a:p>
        </p:txBody>
      </p:sp>
      <p:sp>
        <p:nvSpPr>
          <p:cNvPr id="12" name="Text 10"/>
          <p:cNvSpPr/>
          <p:nvPr/>
        </p:nvSpPr>
        <p:spPr>
          <a:xfrm>
            <a:off x="4663440" y="2664460"/>
            <a:ext cx="3337560" cy="3794760"/>
          </a:xfrm>
          <a:prstGeom prst="rect">
            <a:avLst/>
          </a:prstGeom>
          <a:noFill/>
          <a:ln/>
        </p:spPr>
        <p:txBody>
          <a:bodyPr wrap="square" rtlCol="0" anchor="t"/>
          <a:lstStyle/>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Низька затримка</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Мало “службового” трафіку</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Масштабування на N клієнтів</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Сумісність (мережі/проксі)</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Надійність з’єднання</a:t>
            </a:r>
            <a:endParaRPr lang="uk-UA" noProof="1"/>
          </a:p>
        </p:txBody>
      </p:sp>
      <p:sp>
        <p:nvSpPr>
          <p:cNvPr id="13" name="Shape 11"/>
          <p:cNvSpPr/>
          <p:nvPr/>
        </p:nvSpPr>
        <p:spPr>
          <a:xfrm>
            <a:off x="8138160" y="2001520"/>
            <a:ext cx="3388361" cy="31394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4" name="Shape 12"/>
          <p:cNvSpPr/>
          <p:nvPr/>
        </p:nvSpPr>
        <p:spPr>
          <a:xfrm>
            <a:off x="8138160" y="2001520"/>
            <a:ext cx="91440" cy="3139200"/>
          </a:xfrm>
          <a:prstGeom prst="rect">
            <a:avLst/>
          </a:prstGeom>
          <a:solidFill>
            <a:srgbClr val="F97316"/>
          </a:solidFill>
          <a:ln w="12700">
            <a:solidFill>
              <a:srgbClr val="F97316"/>
            </a:solidFill>
            <a:prstDash val="solid"/>
          </a:ln>
        </p:spPr>
        <p:txBody>
          <a:bodyPr/>
          <a:lstStyle/>
          <a:p>
            <a:endParaRPr lang="uk-UA" noProof="1"/>
          </a:p>
        </p:txBody>
      </p:sp>
      <p:sp>
        <p:nvSpPr>
          <p:cNvPr id="15" name="Text 13"/>
          <p:cNvSpPr/>
          <p:nvPr/>
        </p:nvSpPr>
        <p:spPr>
          <a:xfrm>
            <a:off x="8366760" y="2184400"/>
            <a:ext cx="324612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Обмеження вебу</a:t>
            </a:r>
            <a:endParaRPr lang="uk-UA" sz="2400" noProof="1"/>
          </a:p>
        </p:txBody>
      </p:sp>
      <p:sp>
        <p:nvSpPr>
          <p:cNvPr id="16" name="Text 14"/>
          <p:cNvSpPr/>
          <p:nvPr/>
        </p:nvSpPr>
        <p:spPr>
          <a:xfrm>
            <a:off x="8412480" y="2687320"/>
            <a:ext cx="3246120" cy="3794760"/>
          </a:xfrm>
          <a:prstGeom prst="rect">
            <a:avLst/>
          </a:prstGeom>
          <a:noFill/>
          <a:ln/>
        </p:spPr>
        <p:txBody>
          <a:bodyPr wrap="square" rtlCol="0" anchor="t"/>
          <a:lstStyle/>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Браузерні API</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Ліміти на з’єднання</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Корпоративні проксі</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Мобільні мережі</a:t>
            </a:r>
            <a:endParaRPr lang="uk-UA" noProof="1"/>
          </a:p>
          <a:p>
            <a:pPr marL="228600" indent="-228600">
              <a:spcAft>
                <a:spcPts val="600"/>
              </a:spcAft>
              <a:buSzPct val="100000"/>
              <a:buChar char="•"/>
            </a:pPr>
            <a:r>
              <a:rPr lang="uk-UA" noProof="1">
                <a:solidFill>
                  <a:srgbClr val="334155"/>
                </a:solidFill>
                <a:latin typeface="Calibri" pitchFamily="34" charset="0"/>
                <a:ea typeface="Calibri" pitchFamily="34" charset="-122"/>
                <a:cs typeface="Calibri" pitchFamily="34" charset="-120"/>
              </a:rPr>
              <a:t>Повторні підключення</a:t>
            </a:r>
            <a:endParaRPr lang="uk-UA" noProof="1"/>
          </a:p>
        </p:txBody>
      </p:sp>
      <p:sp>
        <p:nvSpPr>
          <p:cNvPr id="4" name="TextBox 3">
            <a:extLst>
              <a:ext uri="{FF2B5EF4-FFF2-40B4-BE49-F238E27FC236}">
                <a16:creationId xmlns:a16="http://schemas.microsoft.com/office/drawing/2014/main" id="{85F12971-76D6-5DC5-00D7-44CE8651FD87}"/>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1.2 Проблеми та актуалізація рішень</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874520"/>
            <a:ext cx="10789920" cy="96012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6" name="Shape 4"/>
          <p:cNvSpPr/>
          <p:nvPr/>
        </p:nvSpPr>
        <p:spPr>
          <a:xfrm>
            <a:off x="1051560" y="2039112"/>
            <a:ext cx="640080" cy="640080"/>
          </a:xfrm>
          <a:prstGeom prst="ellipse">
            <a:avLst/>
          </a:prstGeom>
          <a:solidFill>
            <a:srgbClr val="94A3B8"/>
          </a:solidFill>
          <a:ln w="12700">
            <a:solidFill>
              <a:srgbClr val="94A3B8"/>
            </a:solidFill>
            <a:prstDash val="solid"/>
          </a:ln>
        </p:spPr>
        <p:txBody>
          <a:bodyPr/>
          <a:lstStyle/>
          <a:p>
            <a:endParaRPr lang="uk-UA" noProof="1"/>
          </a:p>
        </p:txBody>
      </p:sp>
      <p:sp>
        <p:nvSpPr>
          <p:cNvPr id="7" name="Text 5"/>
          <p:cNvSpPr/>
          <p:nvPr/>
        </p:nvSpPr>
        <p:spPr>
          <a:xfrm>
            <a:off x="914400"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Short</a:t>
            </a:r>
            <a:endParaRPr lang="uk-UA" sz="1100" noProof="1">
              <a:solidFill>
                <a:schemeClr val="bg1"/>
              </a:solidFill>
            </a:endParaRPr>
          </a:p>
          <a:p>
            <a:pPr marL="0" indent="0" algn="ctr">
              <a:buNone/>
            </a:pPr>
            <a:r>
              <a:rPr lang="uk-UA" sz="1100" b="1" noProof="1">
                <a:solidFill>
                  <a:schemeClr val="bg1"/>
                </a:solidFill>
                <a:latin typeface="Calibri" pitchFamily="34" charset="0"/>
                <a:ea typeface="Calibri" pitchFamily="34" charset="-122"/>
                <a:cs typeface="Calibri" pitchFamily="34" charset="-120"/>
              </a:rPr>
              <a:t>Polling</a:t>
            </a:r>
            <a:endParaRPr lang="uk-UA" sz="1100" noProof="1">
              <a:solidFill>
                <a:schemeClr val="bg1"/>
              </a:solidFill>
            </a:endParaRPr>
          </a:p>
        </p:txBody>
      </p:sp>
      <p:sp>
        <p:nvSpPr>
          <p:cNvPr id="8" name="Shape 6"/>
          <p:cNvSpPr/>
          <p:nvPr/>
        </p:nvSpPr>
        <p:spPr>
          <a:xfrm>
            <a:off x="1737360"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9" name="Shape 7"/>
          <p:cNvSpPr/>
          <p:nvPr/>
        </p:nvSpPr>
        <p:spPr>
          <a:xfrm>
            <a:off x="2752344" y="2039112"/>
            <a:ext cx="640080" cy="640080"/>
          </a:xfrm>
          <a:prstGeom prst="ellipse">
            <a:avLst/>
          </a:prstGeom>
          <a:solidFill>
            <a:srgbClr val="64748B"/>
          </a:solidFill>
          <a:ln w="12700">
            <a:solidFill>
              <a:srgbClr val="64748B"/>
            </a:solidFill>
            <a:prstDash val="solid"/>
          </a:ln>
        </p:spPr>
        <p:txBody>
          <a:bodyPr/>
          <a:lstStyle/>
          <a:p>
            <a:endParaRPr lang="uk-UA" noProof="1"/>
          </a:p>
        </p:txBody>
      </p:sp>
      <p:sp>
        <p:nvSpPr>
          <p:cNvPr id="10" name="Text 8"/>
          <p:cNvSpPr/>
          <p:nvPr/>
        </p:nvSpPr>
        <p:spPr>
          <a:xfrm>
            <a:off x="2615184"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Long</a:t>
            </a:r>
            <a:endParaRPr lang="uk-UA" sz="1100" noProof="1">
              <a:solidFill>
                <a:schemeClr val="bg1"/>
              </a:solidFill>
            </a:endParaRPr>
          </a:p>
          <a:p>
            <a:pPr marL="0" indent="0" algn="ctr">
              <a:buNone/>
            </a:pPr>
            <a:r>
              <a:rPr lang="uk-UA" sz="1100" b="1" noProof="1">
                <a:solidFill>
                  <a:schemeClr val="bg1"/>
                </a:solidFill>
                <a:latin typeface="Calibri" pitchFamily="34" charset="0"/>
                <a:ea typeface="Calibri" pitchFamily="34" charset="-122"/>
                <a:cs typeface="Calibri" pitchFamily="34" charset="-120"/>
              </a:rPr>
              <a:t>Polling</a:t>
            </a:r>
            <a:endParaRPr lang="uk-UA" sz="1100" noProof="1">
              <a:solidFill>
                <a:schemeClr val="bg1"/>
              </a:solidFill>
            </a:endParaRPr>
          </a:p>
        </p:txBody>
      </p:sp>
      <p:sp>
        <p:nvSpPr>
          <p:cNvPr id="11" name="Shape 9"/>
          <p:cNvSpPr/>
          <p:nvPr/>
        </p:nvSpPr>
        <p:spPr>
          <a:xfrm>
            <a:off x="3438144"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12" name="Shape 10"/>
          <p:cNvSpPr/>
          <p:nvPr/>
        </p:nvSpPr>
        <p:spPr>
          <a:xfrm>
            <a:off x="4453128" y="2039112"/>
            <a:ext cx="640080" cy="640080"/>
          </a:xfrm>
          <a:prstGeom prst="ellipse">
            <a:avLst/>
          </a:prstGeom>
          <a:solidFill>
            <a:srgbClr val="22C55E"/>
          </a:solidFill>
          <a:ln w="12700">
            <a:solidFill>
              <a:srgbClr val="22C55E"/>
            </a:solidFill>
            <a:prstDash val="solid"/>
          </a:ln>
        </p:spPr>
        <p:txBody>
          <a:bodyPr/>
          <a:lstStyle/>
          <a:p>
            <a:endParaRPr lang="uk-UA" noProof="1">
              <a:solidFill>
                <a:schemeClr val="bg1"/>
              </a:solidFill>
            </a:endParaRPr>
          </a:p>
        </p:txBody>
      </p:sp>
      <p:sp>
        <p:nvSpPr>
          <p:cNvPr id="13" name="Text 11"/>
          <p:cNvSpPr/>
          <p:nvPr/>
        </p:nvSpPr>
        <p:spPr>
          <a:xfrm>
            <a:off x="4315968"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SSE</a:t>
            </a:r>
            <a:endParaRPr lang="uk-UA" sz="1100" noProof="1">
              <a:solidFill>
                <a:schemeClr val="bg1"/>
              </a:solidFill>
            </a:endParaRPr>
          </a:p>
        </p:txBody>
      </p:sp>
      <p:sp>
        <p:nvSpPr>
          <p:cNvPr id="14" name="Shape 12"/>
          <p:cNvSpPr/>
          <p:nvPr/>
        </p:nvSpPr>
        <p:spPr>
          <a:xfrm>
            <a:off x="5138928"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15" name="Shape 13"/>
          <p:cNvSpPr/>
          <p:nvPr/>
        </p:nvSpPr>
        <p:spPr>
          <a:xfrm>
            <a:off x="6153912" y="2039112"/>
            <a:ext cx="640080" cy="640080"/>
          </a:xfrm>
          <a:prstGeom prst="ellipse">
            <a:avLst/>
          </a:prstGeom>
          <a:solidFill>
            <a:srgbClr val="2563EB"/>
          </a:solidFill>
          <a:ln w="12700">
            <a:solidFill>
              <a:srgbClr val="2563EB"/>
            </a:solidFill>
            <a:prstDash val="solid"/>
          </a:ln>
        </p:spPr>
        <p:txBody>
          <a:bodyPr/>
          <a:lstStyle/>
          <a:p>
            <a:endParaRPr lang="uk-UA" noProof="1"/>
          </a:p>
        </p:txBody>
      </p:sp>
      <p:sp>
        <p:nvSpPr>
          <p:cNvPr id="16" name="Text 14"/>
          <p:cNvSpPr/>
          <p:nvPr/>
        </p:nvSpPr>
        <p:spPr>
          <a:xfrm>
            <a:off x="6016752"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WebSocket</a:t>
            </a:r>
            <a:endParaRPr lang="uk-UA" sz="1100" noProof="1">
              <a:solidFill>
                <a:schemeClr val="bg1"/>
              </a:solidFill>
            </a:endParaRPr>
          </a:p>
        </p:txBody>
      </p:sp>
      <p:sp>
        <p:nvSpPr>
          <p:cNvPr id="17" name="Shape 15"/>
          <p:cNvSpPr/>
          <p:nvPr/>
        </p:nvSpPr>
        <p:spPr>
          <a:xfrm>
            <a:off x="6839712"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18" name="Shape 16"/>
          <p:cNvSpPr/>
          <p:nvPr/>
        </p:nvSpPr>
        <p:spPr>
          <a:xfrm>
            <a:off x="7854696" y="2039112"/>
            <a:ext cx="640080" cy="640080"/>
          </a:xfrm>
          <a:prstGeom prst="ellipse">
            <a:avLst/>
          </a:prstGeom>
          <a:solidFill>
            <a:srgbClr val="1D4ED8"/>
          </a:solidFill>
          <a:ln w="12700">
            <a:solidFill>
              <a:srgbClr val="1D4ED8"/>
            </a:solidFill>
            <a:prstDash val="solid"/>
          </a:ln>
        </p:spPr>
        <p:txBody>
          <a:bodyPr/>
          <a:lstStyle/>
          <a:p>
            <a:endParaRPr lang="uk-UA" noProof="1"/>
          </a:p>
        </p:txBody>
      </p:sp>
      <p:sp>
        <p:nvSpPr>
          <p:cNvPr id="19" name="Text 17"/>
          <p:cNvSpPr/>
          <p:nvPr/>
        </p:nvSpPr>
        <p:spPr>
          <a:xfrm>
            <a:off x="7717536"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Socket.IO</a:t>
            </a:r>
            <a:endParaRPr lang="uk-UA" sz="1100" noProof="1">
              <a:solidFill>
                <a:schemeClr val="bg1"/>
              </a:solidFill>
            </a:endParaRPr>
          </a:p>
        </p:txBody>
      </p:sp>
      <p:sp>
        <p:nvSpPr>
          <p:cNvPr id="20" name="Shape 18"/>
          <p:cNvSpPr/>
          <p:nvPr/>
        </p:nvSpPr>
        <p:spPr>
          <a:xfrm>
            <a:off x="8540496" y="2359152"/>
            <a:ext cx="923544" cy="0"/>
          </a:xfrm>
          <a:prstGeom prst="line">
            <a:avLst/>
          </a:prstGeom>
          <a:noFill/>
          <a:ln w="25400">
            <a:solidFill>
              <a:srgbClr val="CBD5E1"/>
            </a:solidFill>
            <a:prstDash val="solid"/>
            <a:headEnd type="none"/>
            <a:tailEnd type="triangle"/>
          </a:ln>
        </p:spPr>
        <p:txBody>
          <a:bodyPr/>
          <a:lstStyle/>
          <a:p>
            <a:endParaRPr lang="uk-UA" noProof="1"/>
          </a:p>
        </p:txBody>
      </p:sp>
      <p:sp>
        <p:nvSpPr>
          <p:cNvPr id="21" name="Shape 19"/>
          <p:cNvSpPr/>
          <p:nvPr/>
        </p:nvSpPr>
        <p:spPr>
          <a:xfrm>
            <a:off x="9555480" y="2039112"/>
            <a:ext cx="640080" cy="640080"/>
          </a:xfrm>
          <a:prstGeom prst="ellipse">
            <a:avLst/>
          </a:prstGeom>
          <a:solidFill>
            <a:srgbClr val="7C3AED"/>
          </a:solidFill>
          <a:ln w="12700">
            <a:solidFill>
              <a:srgbClr val="7C3AED"/>
            </a:solidFill>
            <a:prstDash val="solid"/>
          </a:ln>
        </p:spPr>
        <p:txBody>
          <a:bodyPr/>
          <a:lstStyle/>
          <a:p>
            <a:endParaRPr lang="uk-UA" noProof="1"/>
          </a:p>
        </p:txBody>
      </p:sp>
      <p:sp>
        <p:nvSpPr>
          <p:cNvPr id="22" name="Text 20"/>
          <p:cNvSpPr/>
          <p:nvPr/>
        </p:nvSpPr>
        <p:spPr>
          <a:xfrm>
            <a:off x="9418320" y="2011680"/>
            <a:ext cx="914400" cy="731520"/>
          </a:xfrm>
          <a:prstGeom prst="rect">
            <a:avLst/>
          </a:prstGeom>
          <a:noFill/>
          <a:ln/>
        </p:spPr>
        <p:txBody>
          <a:bodyPr wrap="square" rtlCol="0" anchor="ctr"/>
          <a:lstStyle/>
          <a:p>
            <a:pPr marL="0" indent="0" algn="ctr">
              <a:buNone/>
            </a:pPr>
            <a:r>
              <a:rPr lang="uk-UA" sz="1100" b="1" noProof="1">
                <a:solidFill>
                  <a:schemeClr val="bg1"/>
                </a:solidFill>
                <a:latin typeface="Calibri" pitchFamily="34" charset="0"/>
                <a:ea typeface="Calibri" pitchFamily="34" charset="-122"/>
                <a:cs typeface="Calibri" pitchFamily="34" charset="-120"/>
              </a:rPr>
              <a:t>GraphQL</a:t>
            </a:r>
            <a:endParaRPr lang="uk-UA" sz="1100" noProof="1">
              <a:solidFill>
                <a:schemeClr val="bg1"/>
              </a:solidFill>
            </a:endParaRPr>
          </a:p>
          <a:p>
            <a:pPr marL="0" indent="0" algn="ctr">
              <a:buNone/>
            </a:pPr>
            <a:r>
              <a:rPr lang="uk-UA" sz="1100" b="1" noProof="1">
                <a:solidFill>
                  <a:schemeClr val="bg1"/>
                </a:solidFill>
                <a:latin typeface="Calibri" pitchFamily="34" charset="0"/>
                <a:ea typeface="Calibri" pitchFamily="34" charset="-122"/>
                <a:cs typeface="Calibri" pitchFamily="34" charset="-120"/>
              </a:rPr>
              <a:t>Subs</a:t>
            </a:r>
            <a:endParaRPr lang="uk-UA" sz="1100" noProof="1">
              <a:solidFill>
                <a:schemeClr val="bg1"/>
              </a:solidFill>
            </a:endParaRPr>
          </a:p>
        </p:txBody>
      </p:sp>
      <p:sp>
        <p:nvSpPr>
          <p:cNvPr id="23" name="Shape 21"/>
          <p:cNvSpPr/>
          <p:nvPr/>
        </p:nvSpPr>
        <p:spPr>
          <a:xfrm>
            <a:off x="914400" y="2971800"/>
            <a:ext cx="2926080" cy="384048"/>
          </a:xfrm>
          <a:prstGeom prst="roundRect">
            <a:avLst/>
          </a:prstGeom>
          <a:solidFill>
            <a:srgbClr val="F1F5F9"/>
          </a:solidFill>
          <a:ln w="12700">
            <a:solidFill>
              <a:srgbClr val="F1F5F9"/>
            </a:solidFill>
            <a:prstDash val="solid"/>
          </a:ln>
        </p:spPr>
        <p:txBody>
          <a:bodyPr/>
          <a:lstStyle/>
          <a:p>
            <a:endParaRPr lang="uk-UA" noProof="1"/>
          </a:p>
        </p:txBody>
      </p:sp>
      <p:sp>
        <p:nvSpPr>
          <p:cNvPr id="24" name="Text 22"/>
          <p:cNvSpPr/>
          <p:nvPr/>
        </p:nvSpPr>
        <p:spPr>
          <a:xfrm>
            <a:off x="914400" y="3026664"/>
            <a:ext cx="2926080" cy="274320"/>
          </a:xfrm>
          <a:prstGeom prst="rect">
            <a:avLst/>
          </a:prstGeom>
          <a:noFill/>
          <a:ln/>
        </p:spPr>
        <p:txBody>
          <a:bodyPr wrap="square" rtlCol="0" anchor="ctr"/>
          <a:lstStyle/>
          <a:p>
            <a:pPr marL="0" indent="0" algn="ctr">
              <a:buNone/>
            </a:pPr>
            <a:r>
              <a:rPr lang="uk-UA" sz="1300" b="1" noProof="1">
                <a:solidFill>
                  <a:srgbClr val="334155"/>
                </a:solidFill>
                <a:latin typeface="Calibri" pitchFamily="34" charset="0"/>
                <a:ea typeface="Calibri" pitchFamily="34" charset="-122"/>
                <a:cs typeface="Calibri" pitchFamily="34" charset="-120"/>
              </a:rPr>
              <a:t>PULL (запити клієнта)</a:t>
            </a:r>
            <a:endParaRPr lang="uk-UA" sz="1300" noProof="1"/>
          </a:p>
        </p:txBody>
      </p:sp>
      <p:sp>
        <p:nvSpPr>
          <p:cNvPr id="25" name="Shape 23"/>
          <p:cNvSpPr/>
          <p:nvPr/>
        </p:nvSpPr>
        <p:spPr>
          <a:xfrm>
            <a:off x="4114800" y="2971800"/>
            <a:ext cx="2926080" cy="384048"/>
          </a:xfrm>
          <a:prstGeom prst="roundRect">
            <a:avLst/>
          </a:prstGeom>
          <a:solidFill>
            <a:srgbClr val="ECFDF5"/>
          </a:solidFill>
          <a:ln w="12700">
            <a:solidFill>
              <a:srgbClr val="ECFDF5"/>
            </a:solidFill>
            <a:prstDash val="solid"/>
          </a:ln>
        </p:spPr>
        <p:txBody>
          <a:bodyPr/>
          <a:lstStyle/>
          <a:p>
            <a:endParaRPr lang="uk-UA" noProof="1"/>
          </a:p>
        </p:txBody>
      </p:sp>
      <p:sp>
        <p:nvSpPr>
          <p:cNvPr id="26" name="Text 24"/>
          <p:cNvSpPr/>
          <p:nvPr/>
        </p:nvSpPr>
        <p:spPr>
          <a:xfrm>
            <a:off x="4114800" y="3026664"/>
            <a:ext cx="2926080" cy="274320"/>
          </a:xfrm>
          <a:prstGeom prst="rect">
            <a:avLst/>
          </a:prstGeom>
          <a:noFill/>
          <a:ln/>
        </p:spPr>
        <p:txBody>
          <a:bodyPr wrap="square" rtlCol="0" anchor="ctr"/>
          <a:lstStyle/>
          <a:p>
            <a:pPr marL="0" indent="0" algn="ctr">
              <a:buNone/>
            </a:pPr>
            <a:r>
              <a:rPr lang="uk-UA" sz="1300" b="1" noProof="1">
                <a:solidFill>
                  <a:srgbClr val="166534"/>
                </a:solidFill>
                <a:latin typeface="Calibri" pitchFamily="34" charset="0"/>
                <a:ea typeface="Calibri" pitchFamily="34" charset="-122"/>
                <a:cs typeface="Calibri" pitchFamily="34" charset="-120"/>
              </a:rPr>
              <a:t>PSEUDO-PUSH</a:t>
            </a:r>
            <a:endParaRPr lang="uk-UA" sz="1300" noProof="1"/>
          </a:p>
        </p:txBody>
      </p:sp>
      <p:sp>
        <p:nvSpPr>
          <p:cNvPr id="27" name="Shape 25"/>
          <p:cNvSpPr/>
          <p:nvPr/>
        </p:nvSpPr>
        <p:spPr>
          <a:xfrm>
            <a:off x="7315200" y="2971800"/>
            <a:ext cx="2926080" cy="384048"/>
          </a:xfrm>
          <a:prstGeom prst="roundRect">
            <a:avLst/>
          </a:prstGeom>
          <a:solidFill>
            <a:srgbClr val="EFF6FF"/>
          </a:solidFill>
          <a:ln w="12700">
            <a:solidFill>
              <a:srgbClr val="EFF6FF"/>
            </a:solidFill>
            <a:prstDash val="solid"/>
          </a:ln>
        </p:spPr>
        <p:txBody>
          <a:bodyPr/>
          <a:lstStyle/>
          <a:p>
            <a:endParaRPr lang="uk-UA" noProof="1"/>
          </a:p>
        </p:txBody>
      </p:sp>
      <p:sp>
        <p:nvSpPr>
          <p:cNvPr id="28" name="Text 26"/>
          <p:cNvSpPr/>
          <p:nvPr/>
        </p:nvSpPr>
        <p:spPr>
          <a:xfrm>
            <a:off x="7315200" y="3026664"/>
            <a:ext cx="2926080" cy="274320"/>
          </a:xfrm>
          <a:prstGeom prst="rect">
            <a:avLst/>
          </a:prstGeom>
          <a:noFill/>
          <a:ln/>
        </p:spPr>
        <p:txBody>
          <a:bodyPr wrap="square" rtlCol="0" anchor="ctr"/>
          <a:lstStyle/>
          <a:p>
            <a:pPr marL="0" indent="0" algn="ctr">
              <a:buNone/>
            </a:pPr>
            <a:r>
              <a:rPr lang="uk-UA" sz="1300" b="1" noProof="1">
                <a:solidFill>
                  <a:srgbClr val="1D4ED8"/>
                </a:solidFill>
                <a:latin typeface="Calibri" pitchFamily="34" charset="0"/>
                <a:ea typeface="Calibri" pitchFamily="34" charset="-122"/>
                <a:cs typeface="Calibri" pitchFamily="34" charset="-120"/>
              </a:rPr>
              <a:t>PUSH (постійний канал)</a:t>
            </a:r>
            <a:endParaRPr lang="uk-UA" sz="1300" noProof="1"/>
          </a:p>
        </p:txBody>
      </p:sp>
      <p:sp>
        <p:nvSpPr>
          <p:cNvPr id="29" name="Shape 27"/>
          <p:cNvSpPr/>
          <p:nvPr/>
        </p:nvSpPr>
        <p:spPr>
          <a:xfrm>
            <a:off x="1348740" y="3703320"/>
            <a:ext cx="4361688" cy="242316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30" name="Shape 28"/>
          <p:cNvSpPr/>
          <p:nvPr/>
        </p:nvSpPr>
        <p:spPr>
          <a:xfrm>
            <a:off x="1348740" y="3703320"/>
            <a:ext cx="91440" cy="2423160"/>
          </a:xfrm>
          <a:prstGeom prst="rect">
            <a:avLst/>
          </a:prstGeom>
          <a:solidFill>
            <a:srgbClr val="EF4444"/>
          </a:solidFill>
          <a:ln w="12700">
            <a:solidFill>
              <a:srgbClr val="EF4444"/>
            </a:solidFill>
            <a:prstDash val="solid"/>
          </a:ln>
        </p:spPr>
        <p:txBody>
          <a:bodyPr/>
          <a:lstStyle/>
          <a:p>
            <a:endParaRPr lang="uk-UA" noProof="1"/>
          </a:p>
        </p:txBody>
      </p:sp>
      <p:sp>
        <p:nvSpPr>
          <p:cNvPr id="31" name="Text 29"/>
          <p:cNvSpPr/>
          <p:nvPr/>
        </p:nvSpPr>
        <p:spPr>
          <a:xfrm>
            <a:off x="1577340" y="3886200"/>
            <a:ext cx="498348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Проблема</a:t>
            </a:r>
            <a:endParaRPr lang="uk-UA" sz="2400" noProof="1"/>
          </a:p>
        </p:txBody>
      </p:sp>
      <p:sp>
        <p:nvSpPr>
          <p:cNvPr id="32" name="Text 30"/>
          <p:cNvSpPr/>
          <p:nvPr/>
        </p:nvSpPr>
        <p:spPr>
          <a:xfrm>
            <a:off x="1577340" y="4270248"/>
            <a:ext cx="4133088" cy="1691640"/>
          </a:xfrm>
          <a:prstGeom prst="rect">
            <a:avLst/>
          </a:prstGeom>
          <a:noFill/>
          <a:ln/>
        </p:spPr>
        <p:txBody>
          <a:bodyPr wrap="square" rtlCol="0" anchor="t"/>
          <a:lstStyle/>
          <a:p>
            <a:r>
              <a:rPr lang="ru-RU" noProof="1"/>
              <a:t>Існуючі дослідження переважно обмежуються аналізом 1–2 технологій. Це створює суттєвий брак об'єктивних порівняльних даних для всього спектра протоколів реального часу в однакових умовах.</a:t>
            </a:r>
          </a:p>
        </p:txBody>
      </p:sp>
      <p:sp>
        <p:nvSpPr>
          <p:cNvPr id="33" name="Shape 31"/>
          <p:cNvSpPr/>
          <p:nvPr/>
        </p:nvSpPr>
        <p:spPr>
          <a:xfrm>
            <a:off x="6835140" y="3703320"/>
            <a:ext cx="4361688" cy="242316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34" name="Shape 32"/>
          <p:cNvSpPr/>
          <p:nvPr/>
        </p:nvSpPr>
        <p:spPr>
          <a:xfrm>
            <a:off x="6835140" y="3703320"/>
            <a:ext cx="91440" cy="2423160"/>
          </a:xfrm>
          <a:prstGeom prst="rect">
            <a:avLst/>
          </a:prstGeom>
          <a:solidFill>
            <a:srgbClr val="22C55E"/>
          </a:solidFill>
          <a:ln w="12700">
            <a:solidFill>
              <a:srgbClr val="22C55E"/>
            </a:solidFill>
            <a:prstDash val="solid"/>
          </a:ln>
        </p:spPr>
        <p:txBody>
          <a:bodyPr/>
          <a:lstStyle/>
          <a:p>
            <a:endParaRPr lang="uk-UA" noProof="1"/>
          </a:p>
        </p:txBody>
      </p:sp>
      <p:sp>
        <p:nvSpPr>
          <p:cNvPr id="35" name="Text 33"/>
          <p:cNvSpPr/>
          <p:nvPr/>
        </p:nvSpPr>
        <p:spPr>
          <a:xfrm>
            <a:off x="7063740" y="3886200"/>
            <a:ext cx="491947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Рішення</a:t>
            </a:r>
            <a:endParaRPr lang="uk-UA" sz="2400" noProof="1"/>
          </a:p>
        </p:txBody>
      </p:sp>
      <p:sp>
        <p:nvSpPr>
          <p:cNvPr id="36" name="Text 34"/>
          <p:cNvSpPr/>
          <p:nvPr/>
        </p:nvSpPr>
        <p:spPr>
          <a:xfrm>
            <a:off x="7063740" y="4270248"/>
            <a:ext cx="3953807" cy="1691640"/>
          </a:xfrm>
          <a:prstGeom prst="rect">
            <a:avLst/>
          </a:prstGeom>
          <a:noFill/>
          <a:ln/>
        </p:spPr>
        <p:txBody>
          <a:bodyPr wrap="square" rtlCol="0" anchor="t"/>
          <a:lstStyle/>
          <a:p>
            <a:r>
              <a:rPr lang="uk-UA" dirty="0"/>
              <a:t>Створення єдиного ізольованого стенда для одночасного тестування та порівняння метрик одразу шести технологій (від </a:t>
            </a:r>
            <a:r>
              <a:rPr lang="en-US" dirty="0"/>
              <a:t>Polling </a:t>
            </a:r>
            <a:r>
              <a:rPr lang="uk-UA" dirty="0"/>
              <a:t>до </a:t>
            </a:r>
            <a:r>
              <a:rPr lang="en-US" dirty="0" err="1"/>
              <a:t>GraphQL</a:t>
            </a:r>
            <a:r>
              <a:rPr lang="en-US" dirty="0"/>
              <a:t> Subscriptions) </a:t>
            </a:r>
            <a:r>
              <a:rPr lang="uk-UA" dirty="0"/>
              <a:t>із формуванням інженерних рекомендацій.</a:t>
            </a:r>
            <a:endParaRPr lang="uk-UA" noProof="1"/>
          </a:p>
        </p:txBody>
      </p:sp>
      <p:sp>
        <p:nvSpPr>
          <p:cNvPr id="4" name="TextBox 3">
            <a:extLst>
              <a:ext uri="{FF2B5EF4-FFF2-40B4-BE49-F238E27FC236}">
                <a16:creationId xmlns:a16="http://schemas.microsoft.com/office/drawing/2014/main" id="{C0329263-FBDB-1576-1F3B-BDA363FF06C3}"/>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2. Огляд та аналіз джерел</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1558566" y="1828800"/>
            <a:ext cx="3447288"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6" name="Shape 4"/>
          <p:cNvSpPr/>
          <p:nvPr/>
        </p:nvSpPr>
        <p:spPr>
          <a:xfrm>
            <a:off x="1723158" y="1993392"/>
            <a:ext cx="137160" cy="768096"/>
          </a:xfrm>
          <a:prstGeom prst="round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1869462" y="1981264"/>
            <a:ext cx="3136392" cy="822960"/>
          </a:xfrm>
          <a:prstGeom prst="rect">
            <a:avLst/>
          </a:prstGeom>
          <a:noFill/>
          <a:ln/>
        </p:spPr>
        <p:txBody>
          <a:bodyPr wrap="square" rtlCol="0" anchor="ctr"/>
          <a:lstStyle/>
          <a:p>
            <a:r>
              <a:rPr lang="ru-RU" noProof="1"/>
              <a:t>Аналіз еволюції та класифікація методів доставки подій у вебсистемах</a:t>
            </a:r>
            <a:endParaRPr lang="ru-RU" sz="1800" noProof="1"/>
          </a:p>
        </p:txBody>
      </p:sp>
      <p:sp>
        <p:nvSpPr>
          <p:cNvPr id="8" name="Shape 6"/>
          <p:cNvSpPr/>
          <p:nvPr/>
        </p:nvSpPr>
        <p:spPr>
          <a:xfrm>
            <a:off x="4389119" y="3328416"/>
            <a:ext cx="3413762"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9" name="Shape 7"/>
          <p:cNvSpPr/>
          <p:nvPr/>
        </p:nvSpPr>
        <p:spPr>
          <a:xfrm>
            <a:off x="4553711" y="3493008"/>
            <a:ext cx="137160" cy="768096"/>
          </a:xfrm>
          <a:prstGeom prst="roundRect">
            <a:avLst/>
          </a:prstGeom>
          <a:solidFill>
            <a:srgbClr val="22C55E"/>
          </a:solidFill>
          <a:ln w="12700">
            <a:solidFill>
              <a:srgbClr val="22C55E"/>
            </a:solidFill>
            <a:prstDash val="solid"/>
          </a:ln>
        </p:spPr>
        <p:txBody>
          <a:bodyPr/>
          <a:lstStyle/>
          <a:p>
            <a:endParaRPr lang="uk-UA" noProof="1"/>
          </a:p>
        </p:txBody>
      </p:sp>
      <p:sp>
        <p:nvSpPr>
          <p:cNvPr id="10" name="Text 8"/>
          <p:cNvSpPr/>
          <p:nvPr/>
        </p:nvSpPr>
        <p:spPr>
          <a:xfrm>
            <a:off x="4809743" y="3470148"/>
            <a:ext cx="2993138" cy="822960"/>
          </a:xfrm>
          <a:prstGeom prst="rect">
            <a:avLst/>
          </a:prstGeom>
          <a:noFill/>
          <a:ln/>
        </p:spPr>
        <p:txBody>
          <a:bodyPr wrap="square" rtlCol="0" anchor="ctr"/>
          <a:lstStyle/>
          <a:p>
            <a:r>
              <a:rPr lang="ru-RU" noProof="1"/>
              <a:t>Дослідження внутрішніх механізмів роботи шести обраних технологій</a:t>
            </a:r>
            <a:endParaRPr lang="ru-RU" sz="1800" noProof="1"/>
          </a:p>
        </p:txBody>
      </p:sp>
      <p:sp>
        <p:nvSpPr>
          <p:cNvPr id="11" name="Shape 9"/>
          <p:cNvSpPr/>
          <p:nvPr/>
        </p:nvSpPr>
        <p:spPr>
          <a:xfrm>
            <a:off x="7324344" y="1828800"/>
            <a:ext cx="3520440"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12" name="Shape 10"/>
          <p:cNvSpPr/>
          <p:nvPr/>
        </p:nvSpPr>
        <p:spPr>
          <a:xfrm>
            <a:off x="7488936" y="1993392"/>
            <a:ext cx="137160" cy="768096"/>
          </a:xfrm>
          <a:prstGeom prst="roundRect">
            <a:avLst/>
          </a:prstGeom>
          <a:solidFill>
            <a:srgbClr val="1D4ED8"/>
          </a:solidFill>
          <a:ln w="12700">
            <a:solidFill>
              <a:srgbClr val="1D4ED8"/>
            </a:solidFill>
            <a:prstDash val="solid"/>
          </a:ln>
        </p:spPr>
        <p:txBody>
          <a:bodyPr/>
          <a:lstStyle/>
          <a:p>
            <a:endParaRPr lang="uk-UA" noProof="1"/>
          </a:p>
        </p:txBody>
      </p:sp>
      <p:sp>
        <p:nvSpPr>
          <p:cNvPr id="13" name="Text 11"/>
          <p:cNvSpPr/>
          <p:nvPr/>
        </p:nvSpPr>
        <p:spPr>
          <a:xfrm>
            <a:off x="7735824" y="1976628"/>
            <a:ext cx="3307078" cy="822960"/>
          </a:xfrm>
          <a:prstGeom prst="rect">
            <a:avLst/>
          </a:prstGeom>
          <a:noFill/>
          <a:ln/>
        </p:spPr>
        <p:txBody>
          <a:bodyPr wrap="square" rtlCol="0" anchor="ctr"/>
          <a:lstStyle/>
          <a:p>
            <a:r>
              <a:rPr lang="ru-RU" noProof="1"/>
              <a:t>Виявлення причин появи латентності та оверхеду в моделі «запит-відповідь»</a:t>
            </a:r>
            <a:endParaRPr lang="ru-RU" sz="1800" noProof="1"/>
          </a:p>
        </p:txBody>
      </p:sp>
      <p:sp>
        <p:nvSpPr>
          <p:cNvPr id="14" name="Shape 12"/>
          <p:cNvSpPr/>
          <p:nvPr/>
        </p:nvSpPr>
        <p:spPr>
          <a:xfrm>
            <a:off x="1299616" y="4828032"/>
            <a:ext cx="3840480"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15" name="Shape 13"/>
          <p:cNvSpPr/>
          <p:nvPr/>
        </p:nvSpPr>
        <p:spPr>
          <a:xfrm>
            <a:off x="1464208" y="4992624"/>
            <a:ext cx="137160" cy="768096"/>
          </a:xfrm>
          <a:prstGeom prst="roundRect">
            <a:avLst/>
          </a:prstGeom>
          <a:solidFill>
            <a:srgbClr val="7C3AED"/>
          </a:solidFill>
          <a:ln w="12700">
            <a:solidFill>
              <a:srgbClr val="7C3AED"/>
            </a:solidFill>
            <a:prstDash val="solid"/>
          </a:ln>
        </p:spPr>
        <p:txBody>
          <a:bodyPr/>
          <a:lstStyle/>
          <a:p>
            <a:endParaRPr lang="uk-UA" noProof="1"/>
          </a:p>
        </p:txBody>
      </p:sp>
      <p:sp>
        <p:nvSpPr>
          <p:cNvPr id="16" name="Text 14"/>
          <p:cNvSpPr/>
          <p:nvPr/>
        </p:nvSpPr>
        <p:spPr>
          <a:xfrm>
            <a:off x="1711096" y="4947666"/>
            <a:ext cx="3429000" cy="822960"/>
          </a:xfrm>
          <a:prstGeom prst="rect">
            <a:avLst/>
          </a:prstGeom>
          <a:noFill/>
          <a:ln/>
        </p:spPr>
        <p:txBody>
          <a:bodyPr wrap="square" rtlCol="0" anchor="ctr"/>
          <a:lstStyle/>
          <a:p>
            <a:r>
              <a:rPr lang="uk-UA" dirty="0"/>
              <a:t>Визначення обмежень щодо утилізації з'єднань та серіалізації даних</a:t>
            </a:r>
            <a:endParaRPr lang="uk-UA" sz="1800" noProof="1"/>
          </a:p>
        </p:txBody>
      </p:sp>
      <p:sp>
        <p:nvSpPr>
          <p:cNvPr id="17" name="Shape 15"/>
          <p:cNvSpPr/>
          <p:nvPr/>
        </p:nvSpPr>
        <p:spPr>
          <a:xfrm>
            <a:off x="7022592" y="4828032"/>
            <a:ext cx="4023360" cy="109728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18" name="Shape 16"/>
          <p:cNvSpPr/>
          <p:nvPr/>
        </p:nvSpPr>
        <p:spPr>
          <a:xfrm>
            <a:off x="7187184" y="4992624"/>
            <a:ext cx="137160" cy="768096"/>
          </a:xfrm>
          <a:prstGeom prst="roundRect">
            <a:avLst/>
          </a:prstGeom>
          <a:solidFill>
            <a:srgbClr val="F97316"/>
          </a:solidFill>
          <a:ln w="12700">
            <a:solidFill>
              <a:srgbClr val="F97316"/>
            </a:solidFill>
            <a:prstDash val="solid"/>
          </a:ln>
        </p:spPr>
        <p:txBody>
          <a:bodyPr/>
          <a:lstStyle/>
          <a:p>
            <a:endParaRPr lang="uk-UA" noProof="1"/>
          </a:p>
        </p:txBody>
      </p:sp>
      <p:sp>
        <p:nvSpPr>
          <p:cNvPr id="19" name="Text 17"/>
          <p:cNvSpPr/>
          <p:nvPr/>
        </p:nvSpPr>
        <p:spPr>
          <a:xfrm>
            <a:off x="7424928" y="4965192"/>
            <a:ext cx="3520440" cy="822960"/>
          </a:xfrm>
          <a:prstGeom prst="rect">
            <a:avLst/>
          </a:prstGeom>
          <a:noFill/>
          <a:ln/>
        </p:spPr>
        <p:txBody>
          <a:bodyPr wrap="square" rtlCol="0" anchor="ctr"/>
          <a:lstStyle/>
          <a:p>
            <a:r>
              <a:rPr lang="ru-RU" noProof="1"/>
              <a:t>Формування бази технічних критеріїв для подальшого моделювання.</a:t>
            </a:r>
            <a:endParaRPr lang="ru-RU" sz="1800" noProof="1"/>
          </a:p>
        </p:txBody>
      </p:sp>
      <p:sp>
        <p:nvSpPr>
          <p:cNvPr id="21" name="TextBox 20">
            <a:extLst>
              <a:ext uri="{FF2B5EF4-FFF2-40B4-BE49-F238E27FC236}">
                <a16:creationId xmlns:a16="http://schemas.microsoft.com/office/drawing/2014/main" id="{10CB38E1-5EA7-F1C4-BEE6-DE38D263B5F1}"/>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2.2 Постановка задачі</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600200"/>
            <a:ext cx="5120640" cy="20116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6" name="Shape 4"/>
          <p:cNvSpPr/>
          <p:nvPr/>
        </p:nvSpPr>
        <p:spPr>
          <a:xfrm>
            <a:off x="777240" y="1600200"/>
            <a:ext cx="91440" cy="2011680"/>
          </a:xfrm>
          <a:prstGeom prst="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1005840" y="1783080"/>
            <a:ext cx="512064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Мета</a:t>
            </a:r>
            <a:endParaRPr lang="uk-UA" sz="2400" noProof="1"/>
          </a:p>
        </p:txBody>
      </p:sp>
      <p:sp>
        <p:nvSpPr>
          <p:cNvPr id="8" name="Text 6"/>
          <p:cNvSpPr/>
          <p:nvPr/>
        </p:nvSpPr>
        <p:spPr>
          <a:xfrm>
            <a:off x="1005840" y="2167128"/>
            <a:ext cx="5120640" cy="128016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Порівняти 6 підходів доставки подій</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та обґрунтувати вибір технології</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за вимогами застосунку.</a:t>
            </a:r>
            <a:endParaRPr lang="uk-UA" noProof="1"/>
          </a:p>
        </p:txBody>
      </p:sp>
      <p:sp>
        <p:nvSpPr>
          <p:cNvPr id="9" name="Shape 7"/>
          <p:cNvSpPr/>
          <p:nvPr/>
        </p:nvSpPr>
        <p:spPr>
          <a:xfrm>
            <a:off x="6355080" y="1600200"/>
            <a:ext cx="5120640" cy="20116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0" name="Shape 8"/>
          <p:cNvSpPr/>
          <p:nvPr/>
        </p:nvSpPr>
        <p:spPr>
          <a:xfrm>
            <a:off x="6355080" y="1600200"/>
            <a:ext cx="91440" cy="2011680"/>
          </a:xfrm>
          <a:prstGeom prst="rect">
            <a:avLst/>
          </a:prstGeom>
          <a:solidFill>
            <a:srgbClr val="7C3AED"/>
          </a:solidFill>
          <a:ln w="12700">
            <a:solidFill>
              <a:srgbClr val="7C3AED"/>
            </a:solidFill>
            <a:prstDash val="solid"/>
          </a:ln>
        </p:spPr>
        <p:txBody>
          <a:bodyPr/>
          <a:lstStyle/>
          <a:p>
            <a:endParaRPr lang="uk-UA" noProof="1"/>
          </a:p>
        </p:txBody>
      </p:sp>
      <p:sp>
        <p:nvSpPr>
          <p:cNvPr id="11" name="Text 9"/>
          <p:cNvSpPr/>
          <p:nvPr/>
        </p:nvSpPr>
        <p:spPr>
          <a:xfrm>
            <a:off x="6583680" y="1783080"/>
            <a:ext cx="496519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Альтернативи</a:t>
            </a:r>
            <a:endParaRPr lang="uk-UA" sz="2400" noProof="1"/>
          </a:p>
        </p:txBody>
      </p:sp>
      <p:sp>
        <p:nvSpPr>
          <p:cNvPr id="12" name="Text 10"/>
          <p:cNvSpPr/>
          <p:nvPr/>
        </p:nvSpPr>
        <p:spPr>
          <a:xfrm>
            <a:off x="6583680" y="2167128"/>
            <a:ext cx="4965192" cy="128016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Short/Long polling, SSE, WebSocket,</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Socket.IO, GraphQL Subscriptions.</a:t>
            </a:r>
            <a:endParaRPr lang="uk-UA" noProof="1"/>
          </a:p>
        </p:txBody>
      </p:sp>
      <p:sp>
        <p:nvSpPr>
          <p:cNvPr id="13" name="Shape 11"/>
          <p:cNvSpPr/>
          <p:nvPr/>
        </p:nvSpPr>
        <p:spPr>
          <a:xfrm>
            <a:off x="777240" y="3794760"/>
            <a:ext cx="5149985" cy="233172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4" name="Shape 12"/>
          <p:cNvSpPr/>
          <p:nvPr/>
        </p:nvSpPr>
        <p:spPr>
          <a:xfrm>
            <a:off x="777240" y="3794760"/>
            <a:ext cx="91440" cy="2331720"/>
          </a:xfrm>
          <a:prstGeom prst="rect">
            <a:avLst/>
          </a:prstGeom>
          <a:solidFill>
            <a:srgbClr val="22C55E"/>
          </a:solidFill>
          <a:ln w="12700">
            <a:solidFill>
              <a:srgbClr val="22C55E"/>
            </a:solidFill>
            <a:prstDash val="solid"/>
          </a:ln>
        </p:spPr>
        <p:txBody>
          <a:bodyPr/>
          <a:lstStyle/>
          <a:p>
            <a:endParaRPr lang="uk-UA" noProof="1"/>
          </a:p>
        </p:txBody>
      </p:sp>
      <p:sp>
        <p:nvSpPr>
          <p:cNvPr id="15" name="Text 13"/>
          <p:cNvSpPr/>
          <p:nvPr/>
        </p:nvSpPr>
        <p:spPr>
          <a:xfrm>
            <a:off x="1005840" y="3977640"/>
            <a:ext cx="5120640"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Критерії</a:t>
            </a:r>
            <a:endParaRPr lang="uk-UA" sz="2400" noProof="1"/>
          </a:p>
        </p:txBody>
      </p:sp>
      <p:sp>
        <p:nvSpPr>
          <p:cNvPr id="16" name="Text 14"/>
          <p:cNvSpPr/>
          <p:nvPr/>
        </p:nvSpPr>
        <p:spPr>
          <a:xfrm>
            <a:off x="1005840" y="4361688"/>
            <a:ext cx="5120640" cy="160020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Latency, Network overhead, Scalability,</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Complexity, Reliability/Compatibility.</a:t>
            </a:r>
            <a:endParaRPr lang="uk-UA" noProof="1"/>
          </a:p>
        </p:txBody>
      </p:sp>
      <p:sp>
        <p:nvSpPr>
          <p:cNvPr id="17" name="Shape 15"/>
          <p:cNvSpPr/>
          <p:nvPr/>
        </p:nvSpPr>
        <p:spPr>
          <a:xfrm>
            <a:off x="6355080" y="3794760"/>
            <a:ext cx="5120640" cy="233172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8" name="Shape 16"/>
          <p:cNvSpPr/>
          <p:nvPr/>
        </p:nvSpPr>
        <p:spPr>
          <a:xfrm>
            <a:off x="6355080" y="3794760"/>
            <a:ext cx="91440" cy="2331720"/>
          </a:xfrm>
          <a:prstGeom prst="rect">
            <a:avLst/>
          </a:prstGeom>
          <a:solidFill>
            <a:srgbClr val="F97316"/>
          </a:solidFill>
          <a:ln w="12700">
            <a:solidFill>
              <a:srgbClr val="F97316"/>
            </a:solidFill>
            <a:prstDash val="solid"/>
          </a:ln>
        </p:spPr>
        <p:txBody>
          <a:bodyPr/>
          <a:lstStyle/>
          <a:p>
            <a:endParaRPr lang="uk-UA" noProof="1"/>
          </a:p>
        </p:txBody>
      </p:sp>
      <p:sp>
        <p:nvSpPr>
          <p:cNvPr id="19" name="Text 17"/>
          <p:cNvSpPr/>
          <p:nvPr/>
        </p:nvSpPr>
        <p:spPr>
          <a:xfrm>
            <a:off x="6583680" y="3977640"/>
            <a:ext cx="496519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Метрики та сценарії</a:t>
            </a:r>
            <a:endParaRPr lang="uk-UA" sz="2400" noProof="1"/>
          </a:p>
        </p:txBody>
      </p:sp>
      <p:sp>
        <p:nvSpPr>
          <p:cNvPr id="20" name="Text 18"/>
          <p:cNvSpPr/>
          <p:nvPr/>
        </p:nvSpPr>
        <p:spPr>
          <a:xfrm>
            <a:off x="6583680" y="4361688"/>
            <a:ext cx="4965192" cy="160020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Метрики: avg, p50, p95, bytes/event.</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Сценарії: часті/рідкі події,</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1 та N клієнтів.</a:t>
            </a:r>
            <a:endParaRPr lang="uk-UA" noProof="1"/>
          </a:p>
        </p:txBody>
      </p:sp>
      <p:sp>
        <p:nvSpPr>
          <p:cNvPr id="4" name="TextBox 3">
            <a:extLst>
              <a:ext uri="{FF2B5EF4-FFF2-40B4-BE49-F238E27FC236}">
                <a16:creationId xmlns:a16="http://schemas.microsoft.com/office/drawing/2014/main" id="{8C35E8D4-6C2D-1F99-A948-1025D34AA45E}"/>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3. Багатокритеріальний вибір</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6" name="Text 4"/>
          <p:cNvSpPr/>
          <p:nvPr/>
        </p:nvSpPr>
        <p:spPr>
          <a:xfrm>
            <a:off x="8869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Альтернативи</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(A1–A6)</a:t>
            </a:r>
            <a:endParaRPr lang="uk-UA" sz="1600" noProof="1"/>
          </a:p>
        </p:txBody>
      </p:sp>
      <p:sp>
        <p:nvSpPr>
          <p:cNvPr id="7" name="Shape 5"/>
          <p:cNvSpPr/>
          <p:nvPr/>
        </p:nvSpPr>
        <p:spPr>
          <a:xfrm>
            <a:off x="3291840" y="2331720"/>
            <a:ext cx="228600" cy="0"/>
          </a:xfrm>
          <a:prstGeom prst="line">
            <a:avLst/>
          </a:prstGeom>
          <a:noFill/>
          <a:ln w="25400">
            <a:solidFill>
              <a:srgbClr val="94A3B8"/>
            </a:solidFill>
            <a:prstDash val="solid"/>
            <a:tailEnd type="triangle"/>
          </a:ln>
        </p:spPr>
        <p:txBody>
          <a:bodyPr/>
          <a:lstStyle/>
          <a:p>
            <a:endParaRPr lang="uk-UA" noProof="1"/>
          </a:p>
        </p:txBody>
      </p:sp>
      <p:sp>
        <p:nvSpPr>
          <p:cNvPr id="8" name="Shape 6"/>
          <p:cNvSpPr/>
          <p:nvPr/>
        </p:nvSpPr>
        <p:spPr>
          <a:xfrm>
            <a:off x="35204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9" name="Text 7"/>
          <p:cNvSpPr/>
          <p:nvPr/>
        </p:nvSpPr>
        <p:spPr>
          <a:xfrm>
            <a:off x="36301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Критерії</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(K1–K5)</a:t>
            </a:r>
            <a:endParaRPr lang="uk-UA" sz="1600" noProof="1"/>
          </a:p>
        </p:txBody>
      </p:sp>
      <p:sp>
        <p:nvSpPr>
          <p:cNvPr id="10" name="Shape 8"/>
          <p:cNvSpPr/>
          <p:nvPr/>
        </p:nvSpPr>
        <p:spPr>
          <a:xfrm>
            <a:off x="6035040" y="2331720"/>
            <a:ext cx="228600" cy="0"/>
          </a:xfrm>
          <a:prstGeom prst="line">
            <a:avLst/>
          </a:prstGeom>
          <a:noFill/>
          <a:ln w="25400">
            <a:solidFill>
              <a:srgbClr val="94A3B8"/>
            </a:solidFill>
            <a:prstDash val="solid"/>
            <a:tailEnd type="triangle"/>
          </a:ln>
        </p:spPr>
        <p:txBody>
          <a:bodyPr/>
          <a:lstStyle/>
          <a:p>
            <a:endParaRPr lang="uk-UA" noProof="1"/>
          </a:p>
        </p:txBody>
      </p:sp>
      <p:sp>
        <p:nvSpPr>
          <p:cNvPr id="11" name="Shape 9"/>
          <p:cNvSpPr/>
          <p:nvPr/>
        </p:nvSpPr>
        <p:spPr>
          <a:xfrm>
            <a:off x="62636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12" name="Text 10"/>
          <p:cNvSpPr/>
          <p:nvPr/>
        </p:nvSpPr>
        <p:spPr>
          <a:xfrm>
            <a:off x="63733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Нормування</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шкал</a:t>
            </a:r>
            <a:endParaRPr lang="uk-UA" sz="1600" noProof="1"/>
          </a:p>
        </p:txBody>
      </p:sp>
      <p:sp>
        <p:nvSpPr>
          <p:cNvPr id="13" name="Shape 11"/>
          <p:cNvSpPr/>
          <p:nvPr/>
        </p:nvSpPr>
        <p:spPr>
          <a:xfrm>
            <a:off x="8778240" y="2331720"/>
            <a:ext cx="228600" cy="0"/>
          </a:xfrm>
          <a:prstGeom prst="line">
            <a:avLst/>
          </a:prstGeom>
          <a:noFill/>
          <a:ln w="25400">
            <a:solidFill>
              <a:srgbClr val="94A3B8"/>
            </a:solidFill>
            <a:prstDash val="solid"/>
            <a:tailEnd type="triangle"/>
          </a:ln>
        </p:spPr>
        <p:txBody>
          <a:bodyPr/>
          <a:lstStyle/>
          <a:p>
            <a:endParaRPr lang="uk-UA" noProof="1"/>
          </a:p>
        </p:txBody>
      </p:sp>
      <p:sp>
        <p:nvSpPr>
          <p:cNvPr id="14" name="Shape 12"/>
          <p:cNvSpPr/>
          <p:nvPr/>
        </p:nvSpPr>
        <p:spPr>
          <a:xfrm>
            <a:off x="9006840" y="187452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15" name="Text 13"/>
          <p:cNvSpPr/>
          <p:nvPr/>
        </p:nvSpPr>
        <p:spPr>
          <a:xfrm>
            <a:off x="9116568" y="196596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Pareto</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(домінування)</a:t>
            </a:r>
            <a:endParaRPr lang="uk-UA" sz="1600" noProof="1"/>
          </a:p>
        </p:txBody>
      </p:sp>
      <p:sp>
        <p:nvSpPr>
          <p:cNvPr id="16" name="Shape 14"/>
          <p:cNvSpPr/>
          <p:nvPr/>
        </p:nvSpPr>
        <p:spPr>
          <a:xfrm>
            <a:off x="2148840" y="297180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17" name="Text 15"/>
          <p:cNvSpPr/>
          <p:nvPr/>
        </p:nvSpPr>
        <p:spPr>
          <a:xfrm>
            <a:off x="2248408" y="306324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Ваги</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критеріїв</a:t>
            </a:r>
            <a:endParaRPr lang="uk-UA" sz="1600" noProof="1"/>
          </a:p>
        </p:txBody>
      </p:sp>
      <p:sp>
        <p:nvSpPr>
          <p:cNvPr id="18" name="Shape 16"/>
          <p:cNvSpPr/>
          <p:nvPr/>
        </p:nvSpPr>
        <p:spPr>
          <a:xfrm>
            <a:off x="4663440" y="3429000"/>
            <a:ext cx="228600" cy="0"/>
          </a:xfrm>
          <a:prstGeom prst="line">
            <a:avLst/>
          </a:prstGeom>
          <a:noFill/>
          <a:ln w="25400">
            <a:solidFill>
              <a:srgbClr val="94A3B8"/>
            </a:solidFill>
            <a:prstDash val="solid"/>
            <a:tailEnd type="triangle"/>
          </a:ln>
        </p:spPr>
        <p:txBody>
          <a:bodyPr/>
          <a:lstStyle/>
          <a:p>
            <a:endParaRPr lang="uk-UA" noProof="1"/>
          </a:p>
        </p:txBody>
      </p:sp>
      <p:sp>
        <p:nvSpPr>
          <p:cNvPr id="19" name="Shape 17"/>
          <p:cNvSpPr/>
          <p:nvPr/>
        </p:nvSpPr>
        <p:spPr>
          <a:xfrm>
            <a:off x="4892040" y="297180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20" name="Text 18"/>
          <p:cNvSpPr/>
          <p:nvPr/>
        </p:nvSpPr>
        <p:spPr>
          <a:xfrm>
            <a:off x="4991608" y="306324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Корисність</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U(A)</a:t>
            </a:r>
            <a:endParaRPr lang="uk-UA" sz="1600" noProof="1"/>
          </a:p>
        </p:txBody>
      </p:sp>
      <p:sp>
        <p:nvSpPr>
          <p:cNvPr id="21" name="Shape 19"/>
          <p:cNvSpPr/>
          <p:nvPr/>
        </p:nvSpPr>
        <p:spPr>
          <a:xfrm>
            <a:off x="7406640" y="3429000"/>
            <a:ext cx="228600" cy="0"/>
          </a:xfrm>
          <a:prstGeom prst="line">
            <a:avLst/>
          </a:prstGeom>
          <a:noFill/>
          <a:ln w="25400">
            <a:solidFill>
              <a:srgbClr val="94A3B8"/>
            </a:solidFill>
            <a:prstDash val="solid"/>
            <a:tailEnd type="triangle"/>
          </a:ln>
        </p:spPr>
        <p:txBody>
          <a:bodyPr/>
          <a:lstStyle/>
          <a:p>
            <a:endParaRPr lang="uk-UA" noProof="1"/>
          </a:p>
        </p:txBody>
      </p:sp>
      <p:sp>
        <p:nvSpPr>
          <p:cNvPr id="22" name="Shape 20"/>
          <p:cNvSpPr/>
          <p:nvPr/>
        </p:nvSpPr>
        <p:spPr>
          <a:xfrm>
            <a:off x="7635240" y="2971800"/>
            <a:ext cx="2514600" cy="914400"/>
          </a:xfrm>
          <a:prstGeom prst="roundRect">
            <a:avLst/>
          </a:prstGeom>
          <a:solidFill>
            <a:srgbClr val="FFFFFF"/>
          </a:solidFill>
          <a:ln w="12700">
            <a:solidFill>
              <a:srgbClr val="E2E8F0"/>
            </a:solidFill>
            <a:prstDash val="solid"/>
          </a:ln>
          <a:effectLst>
            <a:outerShdw blurRad="31750" dist="12700" dir="2700000" algn="bl" rotWithShape="0">
              <a:srgbClr val="000000">
                <a:alpha val="10000"/>
              </a:srgbClr>
            </a:outerShdw>
          </a:effectLst>
        </p:spPr>
        <p:txBody>
          <a:bodyPr/>
          <a:lstStyle/>
          <a:p>
            <a:endParaRPr lang="uk-UA" noProof="1"/>
          </a:p>
        </p:txBody>
      </p:sp>
      <p:sp>
        <p:nvSpPr>
          <p:cNvPr id="23" name="Text 21"/>
          <p:cNvSpPr/>
          <p:nvPr/>
        </p:nvSpPr>
        <p:spPr>
          <a:xfrm>
            <a:off x="7734808" y="3063240"/>
            <a:ext cx="2295144" cy="731520"/>
          </a:xfrm>
          <a:prstGeom prst="rect">
            <a:avLst/>
          </a:prstGeom>
          <a:noFill/>
          <a:ln/>
        </p:spPr>
        <p:txBody>
          <a:bodyPr wrap="square" rtlCol="0" anchor="ctr"/>
          <a:lstStyle/>
          <a:p>
            <a:pPr marL="0" indent="0" algn="ctr">
              <a:buNone/>
            </a:pPr>
            <a:r>
              <a:rPr lang="uk-UA" sz="1600" b="1" noProof="1">
                <a:solidFill>
                  <a:srgbClr val="0F172A"/>
                </a:solidFill>
                <a:latin typeface="Calibri" pitchFamily="34" charset="0"/>
                <a:ea typeface="Calibri" pitchFamily="34" charset="-122"/>
                <a:cs typeface="Calibri" pitchFamily="34" charset="-120"/>
              </a:rPr>
              <a:t>Ранжування</a:t>
            </a:r>
            <a:endParaRPr lang="uk-UA" sz="1600" noProof="1"/>
          </a:p>
          <a:p>
            <a:pPr marL="0" indent="0" algn="ctr">
              <a:buNone/>
            </a:pPr>
            <a:r>
              <a:rPr lang="uk-UA" sz="1600" b="1" noProof="1">
                <a:solidFill>
                  <a:srgbClr val="0F172A"/>
                </a:solidFill>
                <a:latin typeface="Calibri" pitchFamily="34" charset="0"/>
                <a:ea typeface="Calibri" pitchFamily="34" charset="-122"/>
                <a:cs typeface="Calibri" pitchFamily="34" charset="-120"/>
              </a:rPr>
              <a:t>вибір</a:t>
            </a:r>
            <a:endParaRPr lang="uk-UA" sz="1600" noProof="1"/>
          </a:p>
        </p:txBody>
      </p:sp>
      <p:sp>
        <p:nvSpPr>
          <p:cNvPr id="25" name="Text 23"/>
          <p:cNvSpPr/>
          <p:nvPr/>
        </p:nvSpPr>
        <p:spPr>
          <a:xfrm>
            <a:off x="899160" y="3950208"/>
            <a:ext cx="10972800" cy="320040"/>
          </a:xfrm>
          <a:prstGeom prst="rect">
            <a:avLst/>
          </a:prstGeom>
          <a:noFill/>
          <a:ln/>
        </p:spPr>
        <p:txBody>
          <a:bodyPr wrap="square" rtlCol="0" anchor="ctr"/>
          <a:lstStyle/>
          <a:p>
            <a:pPr marL="0" indent="0">
              <a:buNone/>
            </a:pPr>
            <a:r>
              <a:rPr lang="uk-UA" sz="1600" b="1" noProof="1">
                <a:solidFill>
                  <a:srgbClr val="0F172A"/>
                </a:solidFill>
                <a:latin typeface="Calibri" pitchFamily="34" charset="0"/>
                <a:ea typeface="Calibri" pitchFamily="34" charset="-122"/>
                <a:cs typeface="Calibri" pitchFamily="34" charset="-120"/>
              </a:rPr>
              <a:t>Критерії (K1–K5):</a:t>
            </a:r>
            <a:endParaRPr lang="uk-UA" sz="1600" noProof="1"/>
          </a:p>
        </p:txBody>
      </p:sp>
      <p:sp>
        <p:nvSpPr>
          <p:cNvPr id="26" name="Shape 24"/>
          <p:cNvSpPr/>
          <p:nvPr/>
        </p:nvSpPr>
        <p:spPr>
          <a:xfrm>
            <a:off x="899160" y="4315968"/>
            <a:ext cx="2011680" cy="384048"/>
          </a:xfrm>
          <a:prstGeom prst="roundRect">
            <a:avLst/>
          </a:prstGeom>
          <a:solidFill>
            <a:srgbClr val="FEE2E2"/>
          </a:solidFill>
          <a:ln w="12700">
            <a:solidFill>
              <a:srgbClr val="FEE2E2"/>
            </a:solidFill>
            <a:prstDash val="solid"/>
          </a:ln>
        </p:spPr>
        <p:txBody>
          <a:bodyPr/>
          <a:lstStyle/>
          <a:p>
            <a:endParaRPr lang="uk-UA" noProof="1"/>
          </a:p>
        </p:txBody>
      </p:sp>
      <p:sp>
        <p:nvSpPr>
          <p:cNvPr id="27" name="Text 25"/>
          <p:cNvSpPr/>
          <p:nvPr/>
        </p:nvSpPr>
        <p:spPr>
          <a:xfrm>
            <a:off x="899160" y="4370832"/>
            <a:ext cx="2011680" cy="274320"/>
          </a:xfrm>
          <a:prstGeom prst="rect">
            <a:avLst/>
          </a:prstGeom>
          <a:noFill/>
          <a:ln/>
        </p:spPr>
        <p:txBody>
          <a:bodyPr wrap="square" rtlCol="0" anchor="ctr"/>
          <a:lstStyle/>
          <a:p>
            <a:pPr marL="0" indent="0" algn="ctr">
              <a:buNone/>
            </a:pPr>
            <a:r>
              <a:rPr lang="uk-UA" sz="1300" b="1" noProof="1">
                <a:solidFill>
                  <a:srgbClr val="B91C1C"/>
                </a:solidFill>
                <a:latin typeface="Calibri" pitchFamily="34" charset="0"/>
                <a:ea typeface="Calibri" pitchFamily="34" charset="-122"/>
                <a:cs typeface="Calibri" pitchFamily="34" charset="-120"/>
              </a:rPr>
              <a:t>Latency ↓</a:t>
            </a:r>
            <a:endParaRPr lang="uk-UA" sz="1300" noProof="1"/>
          </a:p>
        </p:txBody>
      </p:sp>
      <p:sp>
        <p:nvSpPr>
          <p:cNvPr id="28" name="Shape 26"/>
          <p:cNvSpPr/>
          <p:nvPr/>
        </p:nvSpPr>
        <p:spPr>
          <a:xfrm>
            <a:off x="3048000" y="4315968"/>
            <a:ext cx="2011680" cy="384048"/>
          </a:xfrm>
          <a:prstGeom prst="roundRect">
            <a:avLst/>
          </a:prstGeom>
          <a:solidFill>
            <a:srgbClr val="FEF3C7"/>
          </a:solidFill>
          <a:ln w="12700">
            <a:solidFill>
              <a:srgbClr val="FEF3C7"/>
            </a:solidFill>
            <a:prstDash val="solid"/>
          </a:ln>
        </p:spPr>
        <p:txBody>
          <a:bodyPr/>
          <a:lstStyle/>
          <a:p>
            <a:endParaRPr lang="uk-UA" noProof="1"/>
          </a:p>
        </p:txBody>
      </p:sp>
      <p:sp>
        <p:nvSpPr>
          <p:cNvPr id="29" name="Text 27"/>
          <p:cNvSpPr/>
          <p:nvPr/>
        </p:nvSpPr>
        <p:spPr>
          <a:xfrm>
            <a:off x="3048000" y="4370832"/>
            <a:ext cx="2011680" cy="274320"/>
          </a:xfrm>
          <a:prstGeom prst="rect">
            <a:avLst/>
          </a:prstGeom>
          <a:noFill/>
          <a:ln/>
        </p:spPr>
        <p:txBody>
          <a:bodyPr wrap="square" rtlCol="0" anchor="ctr"/>
          <a:lstStyle/>
          <a:p>
            <a:pPr marL="0" indent="0" algn="ctr">
              <a:buNone/>
            </a:pPr>
            <a:r>
              <a:rPr lang="uk-UA" sz="1300" b="1" noProof="1">
                <a:solidFill>
                  <a:srgbClr val="92400E"/>
                </a:solidFill>
                <a:latin typeface="Calibri" pitchFamily="34" charset="0"/>
                <a:ea typeface="Calibri" pitchFamily="34" charset="-122"/>
                <a:cs typeface="Calibri" pitchFamily="34" charset="-120"/>
              </a:rPr>
              <a:t>Overhead ↓</a:t>
            </a:r>
            <a:endParaRPr lang="uk-UA" sz="1300" noProof="1"/>
          </a:p>
        </p:txBody>
      </p:sp>
      <p:sp>
        <p:nvSpPr>
          <p:cNvPr id="30" name="Shape 28"/>
          <p:cNvSpPr/>
          <p:nvPr/>
        </p:nvSpPr>
        <p:spPr>
          <a:xfrm>
            <a:off x="5196840" y="4315968"/>
            <a:ext cx="2011680" cy="384048"/>
          </a:xfrm>
          <a:prstGeom prst="roundRect">
            <a:avLst/>
          </a:prstGeom>
          <a:solidFill>
            <a:srgbClr val="DCFCE7"/>
          </a:solidFill>
          <a:ln w="12700">
            <a:solidFill>
              <a:srgbClr val="DCFCE7"/>
            </a:solidFill>
            <a:prstDash val="solid"/>
          </a:ln>
        </p:spPr>
        <p:txBody>
          <a:bodyPr/>
          <a:lstStyle/>
          <a:p>
            <a:endParaRPr lang="uk-UA" noProof="1"/>
          </a:p>
        </p:txBody>
      </p:sp>
      <p:sp>
        <p:nvSpPr>
          <p:cNvPr id="31" name="Text 29"/>
          <p:cNvSpPr/>
          <p:nvPr/>
        </p:nvSpPr>
        <p:spPr>
          <a:xfrm>
            <a:off x="5196840" y="4370832"/>
            <a:ext cx="2011680" cy="274320"/>
          </a:xfrm>
          <a:prstGeom prst="rect">
            <a:avLst/>
          </a:prstGeom>
          <a:noFill/>
          <a:ln/>
        </p:spPr>
        <p:txBody>
          <a:bodyPr wrap="square" rtlCol="0" anchor="ctr"/>
          <a:lstStyle/>
          <a:p>
            <a:pPr marL="0" indent="0" algn="ctr">
              <a:buNone/>
            </a:pPr>
            <a:r>
              <a:rPr lang="uk-UA" sz="1300" b="1" noProof="1">
                <a:solidFill>
                  <a:srgbClr val="166534"/>
                </a:solidFill>
                <a:latin typeface="Calibri" pitchFamily="34" charset="0"/>
                <a:ea typeface="Calibri" pitchFamily="34" charset="-122"/>
                <a:cs typeface="Calibri" pitchFamily="34" charset="-120"/>
              </a:rPr>
              <a:t>Scalability ↑</a:t>
            </a:r>
            <a:endParaRPr lang="uk-UA" sz="1300" noProof="1"/>
          </a:p>
        </p:txBody>
      </p:sp>
      <p:sp>
        <p:nvSpPr>
          <p:cNvPr id="32" name="Shape 30"/>
          <p:cNvSpPr/>
          <p:nvPr/>
        </p:nvSpPr>
        <p:spPr>
          <a:xfrm>
            <a:off x="7345680" y="4315968"/>
            <a:ext cx="2011680" cy="384048"/>
          </a:xfrm>
          <a:prstGeom prst="roundRect">
            <a:avLst/>
          </a:prstGeom>
          <a:solidFill>
            <a:srgbClr val="E0E7FF"/>
          </a:solidFill>
          <a:ln w="12700">
            <a:solidFill>
              <a:srgbClr val="E0E7FF"/>
            </a:solidFill>
            <a:prstDash val="solid"/>
          </a:ln>
        </p:spPr>
        <p:txBody>
          <a:bodyPr/>
          <a:lstStyle/>
          <a:p>
            <a:endParaRPr lang="uk-UA" noProof="1"/>
          </a:p>
        </p:txBody>
      </p:sp>
      <p:sp>
        <p:nvSpPr>
          <p:cNvPr id="33" name="Text 31"/>
          <p:cNvSpPr/>
          <p:nvPr/>
        </p:nvSpPr>
        <p:spPr>
          <a:xfrm>
            <a:off x="7345680" y="4370832"/>
            <a:ext cx="2011680" cy="274320"/>
          </a:xfrm>
          <a:prstGeom prst="rect">
            <a:avLst/>
          </a:prstGeom>
          <a:noFill/>
          <a:ln/>
        </p:spPr>
        <p:txBody>
          <a:bodyPr wrap="square" rtlCol="0" anchor="ctr"/>
          <a:lstStyle/>
          <a:p>
            <a:pPr marL="0" indent="0" algn="ctr">
              <a:buNone/>
            </a:pPr>
            <a:r>
              <a:rPr lang="uk-UA" sz="1300" b="1" noProof="1">
                <a:solidFill>
                  <a:srgbClr val="3730A3"/>
                </a:solidFill>
                <a:latin typeface="Calibri" pitchFamily="34" charset="0"/>
                <a:ea typeface="Calibri" pitchFamily="34" charset="-122"/>
                <a:cs typeface="Calibri" pitchFamily="34" charset="-120"/>
              </a:rPr>
              <a:t>Complexity ↓</a:t>
            </a:r>
            <a:endParaRPr lang="uk-UA" sz="1300" noProof="1"/>
          </a:p>
        </p:txBody>
      </p:sp>
      <p:sp>
        <p:nvSpPr>
          <p:cNvPr id="34" name="Shape 32"/>
          <p:cNvSpPr/>
          <p:nvPr/>
        </p:nvSpPr>
        <p:spPr>
          <a:xfrm>
            <a:off x="9494520" y="4315968"/>
            <a:ext cx="2011680" cy="384048"/>
          </a:xfrm>
          <a:prstGeom prst="roundRect">
            <a:avLst/>
          </a:prstGeom>
          <a:solidFill>
            <a:srgbClr val="E2E8F0"/>
          </a:solidFill>
          <a:ln w="12700">
            <a:solidFill>
              <a:srgbClr val="E2E8F0"/>
            </a:solidFill>
            <a:prstDash val="solid"/>
          </a:ln>
        </p:spPr>
        <p:txBody>
          <a:bodyPr/>
          <a:lstStyle/>
          <a:p>
            <a:endParaRPr lang="uk-UA" noProof="1"/>
          </a:p>
        </p:txBody>
      </p:sp>
      <p:sp>
        <p:nvSpPr>
          <p:cNvPr id="35" name="Text 33"/>
          <p:cNvSpPr/>
          <p:nvPr/>
        </p:nvSpPr>
        <p:spPr>
          <a:xfrm>
            <a:off x="9494520" y="4370832"/>
            <a:ext cx="2011680" cy="274320"/>
          </a:xfrm>
          <a:prstGeom prst="rect">
            <a:avLst/>
          </a:prstGeom>
          <a:noFill/>
          <a:ln/>
        </p:spPr>
        <p:txBody>
          <a:bodyPr wrap="square" rtlCol="0" anchor="ctr"/>
          <a:lstStyle/>
          <a:p>
            <a:pPr marL="0" indent="0" algn="ctr">
              <a:buNone/>
            </a:pPr>
            <a:r>
              <a:rPr lang="uk-UA" sz="1300" b="1" noProof="1">
                <a:solidFill>
                  <a:srgbClr val="334155"/>
                </a:solidFill>
                <a:latin typeface="Calibri" pitchFamily="34" charset="0"/>
                <a:ea typeface="Calibri" pitchFamily="34" charset="-122"/>
                <a:cs typeface="Calibri" pitchFamily="34" charset="-120"/>
              </a:rPr>
              <a:t>Reliability ↑</a:t>
            </a:r>
            <a:endParaRPr lang="uk-UA" sz="1300" noProof="1"/>
          </a:p>
        </p:txBody>
      </p:sp>
      <p:sp>
        <p:nvSpPr>
          <p:cNvPr id="36" name="Shape 34"/>
          <p:cNvSpPr/>
          <p:nvPr/>
        </p:nvSpPr>
        <p:spPr>
          <a:xfrm>
            <a:off x="777240" y="4910329"/>
            <a:ext cx="10835640" cy="1325879"/>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sp>
        <p:nvSpPr>
          <p:cNvPr id="37" name="Text 35"/>
          <p:cNvSpPr/>
          <p:nvPr/>
        </p:nvSpPr>
        <p:spPr>
          <a:xfrm>
            <a:off x="1005840" y="4946904"/>
            <a:ext cx="10241280" cy="1280160"/>
          </a:xfrm>
          <a:prstGeom prst="rect">
            <a:avLst/>
          </a:prstGeom>
          <a:noFill/>
          <a:ln/>
        </p:spPr>
        <p:txBody>
          <a:bodyPr wrap="square" rtlCol="0" anchor="ctr"/>
          <a:lstStyle/>
          <a:p>
            <a:pPr marL="0" indent="0">
              <a:buNone/>
            </a:pPr>
            <a:r>
              <a:rPr lang="uk-UA" sz="2000" noProof="1">
                <a:solidFill>
                  <a:srgbClr val="334155"/>
                </a:solidFill>
                <a:latin typeface="Calibri" pitchFamily="34" charset="0"/>
                <a:ea typeface="Calibri" pitchFamily="34" charset="-122"/>
                <a:cs typeface="Calibri" pitchFamily="34" charset="-120"/>
              </a:rPr>
              <a:t>Ідея: “краще” визначається не одним числом, а балансом критеріїв.</a:t>
            </a:r>
            <a:endParaRPr lang="uk-UA" sz="2000" noProof="1"/>
          </a:p>
          <a:p>
            <a:pPr marL="0" indent="0">
              <a:buNone/>
            </a:pPr>
            <a:r>
              <a:rPr lang="uk-UA" sz="2000" noProof="1">
                <a:solidFill>
                  <a:srgbClr val="334155"/>
                </a:solidFill>
                <a:latin typeface="Calibri" pitchFamily="34" charset="0"/>
                <a:ea typeface="Calibri" pitchFamily="34" charset="-122"/>
                <a:cs typeface="Calibri" pitchFamily="34" charset="-120"/>
              </a:rPr>
              <a:t>Тому вибір робимо як: (1) усунути доміновані варіанти (Pareto) → (2) агрегувати оцінки з вагами.</a:t>
            </a:r>
            <a:endParaRPr lang="uk-UA" sz="2000" noProof="1"/>
          </a:p>
        </p:txBody>
      </p:sp>
      <p:sp>
        <p:nvSpPr>
          <p:cNvPr id="4" name="TextBox 3">
            <a:extLst>
              <a:ext uri="{FF2B5EF4-FFF2-40B4-BE49-F238E27FC236}">
                <a16:creationId xmlns:a16="http://schemas.microsoft.com/office/drawing/2014/main" id="{1E571A4C-E7D5-D3BF-024E-22C592DB9010}"/>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3.2 Результат ранжування</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645920"/>
            <a:ext cx="7635240" cy="4480560"/>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lstStyle/>
          <a:p>
            <a:endParaRPr lang="uk-UA" noProof="1"/>
          </a:p>
        </p:txBody>
      </p:sp>
      <p:graphicFrame>
        <p:nvGraphicFramePr>
          <p:cNvPr id="6" name="Chart 0"/>
          <p:cNvGraphicFramePr/>
          <p:nvPr/>
        </p:nvGraphicFramePr>
        <p:xfrm>
          <a:off x="1005840" y="1965960"/>
          <a:ext cx="7178040" cy="3886200"/>
        </p:xfrm>
        <a:graphic>
          <a:graphicData uri="http://schemas.openxmlformats.org/drawingml/2006/chart">
            <c:chart xmlns:c="http://schemas.openxmlformats.org/drawingml/2006/chart" xmlns:r="http://schemas.openxmlformats.org/officeDocument/2006/relationships" r:id="rId3"/>
          </a:graphicData>
        </a:graphic>
      </p:graphicFrame>
      <p:sp>
        <p:nvSpPr>
          <p:cNvPr id="7" name="Shape 4"/>
          <p:cNvSpPr/>
          <p:nvPr/>
        </p:nvSpPr>
        <p:spPr>
          <a:xfrm>
            <a:off x="8641080" y="1645920"/>
            <a:ext cx="3246120" cy="21488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8" name="Shape 5"/>
          <p:cNvSpPr/>
          <p:nvPr/>
        </p:nvSpPr>
        <p:spPr>
          <a:xfrm>
            <a:off x="8641080" y="1645920"/>
            <a:ext cx="91440" cy="2148840"/>
          </a:xfrm>
          <a:prstGeom prst="rect">
            <a:avLst/>
          </a:prstGeom>
          <a:solidFill>
            <a:srgbClr val="2563EB"/>
          </a:solidFill>
          <a:ln w="12700">
            <a:solidFill>
              <a:srgbClr val="2563EB"/>
            </a:solidFill>
            <a:prstDash val="solid"/>
          </a:ln>
        </p:spPr>
        <p:txBody>
          <a:bodyPr/>
          <a:lstStyle/>
          <a:p>
            <a:endParaRPr lang="uk-UA" noProof="1"/>
          </a:p>
        </p:txBody>
      </p:sp>
      <p:sp>
        <p:nvSpPr>
          <p:cNvPr id="9" name="Text 6"/>
          <p:cNvSpPr/>
          <p:nvPr/>
        </p:nvSpPr>
        <p:spPr>
          <a:xfrm>
            <a:off x="8869680" y="1828800"/>
            <a:ext cx="263347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Топ-2</a:t>
            </a:r>
            <a:endParaRPr lang="uk-UA" sz="2400" noProof="1"/>
          </a:p>
        </p:txBody>
      </p:sp>
      <p:sp>
        <p:nvSpPr>
          <p:cNvPr id="10" name="Text 7"/>
          <p:cNvSpPr/>
          <p:nvPr/>
        </p:nvSpPr>
        <p:spPr>
          <a:xfrm>
            <a:off x="8869680" y="2212848"/>
            <a:ext cx="2633472" cy="141732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1) WebSocket — 0.89</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2) Socket.IO — 0.69</a:t>
            </a:r>
            <a:endParaRPr lang="uk-UA" noProof="1"/>
          </a:p>
        </p:txBody>
      </p:sp>
      <p:sp>
        <p:nvSpPr>
          <p:cNvPr id="11" name="Shape 8"/>
          <p:cNvSpPr/>
          <p:nvPr/>
        </p:nvSpPr>
        <p:spPr>
          <a:xfrm>
            <a:off x="8641080" y="3977640"/>
            <a:ext cx="3246120" cy="214884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2" name="Shape 9"/>
          <p:cNvSpPr/>
          <p:nvPr/>
        </p:nvSpPr>
        <p:spPr>
          <a:xfrm>
            <a:off x="8641080" y="3977640"/>
            <a:ext cx="91440" cy="2148840"/>
          </a:xfrm>
          <a:prstGeom prst="rect">
            <a:avLst/>
          </a:prstGeom>
          <a:solidFill>
            <a:srgbClr val="22C55E"/>
          </a:solidFill>
          <a:ln w="12700">
            <a:solidFill>
              <a:srgbClr val="22C55E"/>
            </a:solidFill>
            <a:prstDash val="solid"/>
          </a:ln>
        </p:spPr>
        <p:txBody>
          <a:bodyPr/>
          <a:lstStyle/>
          <a:p>
            <a:endParaRPr lang="uk-UA" noProof="1"/>
          </a:p>
        </p:txBody>
      </p:sp>
      <p:sp>
        <p:nvSpPr>
          <p:cNvPr id="13" name="Text 10"/>
          <p:cNvSpPr/>
          <p:nvPr/>
        </p:nvSpPr>
        <p:spPr>
          <a:xfrm>
            <a:off x="8869680" y="4160520"/>
            <a:ext cx="2633472" cy="320040"/>
          </a:xfrm>
          <a:prstGeom prst="rect">
            <a:avLst/>
          </a:prstGeom>
          <a:noFill/>
          <a:ln/>
        </p:spPr>
        <p:txBody>
          <a:bodyPr wrap="square" rtlCol="0" anchor="ctr"/>
          <a:lstStyle/>
          <a:p>
            <a:pPr marL="0" indent="0">
              <a:buNone/>
            </a:pPr>
            <a:r>
              <a:rPr lang="uk-UA" sz="2400" b="1" noProof="1">
                <a:solidFill>
                  <a:srgbClr val="0F172A"/>
                </a:solidFill>
                <a:latin typeface="Calibri" pitchFamily="34" charset="0"/>
                <a:ea typeface="Calibri" pitchFamily="34" charset="-122"/>
                <a:cs typeface="Calibri" pitchFamily="34" charset="-120"/>
              </a:rPr>
              <a:t>Інтерпретація</a:t>
            </a:r>
            <a:endParaRPr lang="uk-UA" sz="2400" noProof="1"/>
          </a:p>
        </p:txBody>
      </p:sp>
      <p:sp>
        <p:nvSpPr>
          <p:cNvPr id="14" name="Text 11"/>
          <p:cNvSpPr/>
          <p:nvPr/>
        </p:nvSpPr>
        <p:spPr>
          <a:xfrm>
            <a:off x="8869680" y="4544568"/>
            <a:ext cx="2885440" cy="1417320"/>
          </a:xfrm>
          <a:prstGeom prst="rect">
            <a:avLst/>
          </a:prstGeom>
          <a:noFill/>
          <a:ln/>
        </p:spPr>
        <p:txBody>
          <a:bodyPr wrap="square" rtlCol="0" anchor="t"/>
          <a:lstStyle/>
          <a:p>
            <a:pPr marL="0" indent="0">
              <a:buNone/>
            </a:pPr>
            <a:r>
              <a:rPr lang="uk-UA" noProof="1">
                <a:solidFill>
                  <a:srgbClr val="334155"/>
                </a:solidFill>
                <a:latin typeface="Calibri" pitchFamily="34" charset="0"/>
                <a:ea typeface="Calibri" pitchFamily="34" charset="-122"/>
                <a:cs typeface="Calibri" pitchFamily="34" charset="-120"/>
              </a:rPr>
              <a:t>Висока корисність =</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кращий баланс затримки/</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оверхеду/масштабування</a:t>
            </a:r>
            <a:endParaRPr lang="uk-UA" noProof="1"/>
          </a:p>
          <a:p>
            <a:pPr marL="0" indent="0">
              <a:buNone/>
            </a:pPr>
            <a:r>
              <a:rPr lang="uk-UA" noProof="1">
                <a:solidFill>
                  <a:srgbClr val="334155"/>
                </a:solidFill>
                <a:latin typeface="Calibri" pitchFamily="34" charset="0"/>
                <a:ea typeface="Calibri" pitchFamily="34" charset="-122"/>
                <a:cs typeface="Calibri" pitchFamily="34" charset="-120"/>
              </a:rPr>
              <a:t>з урахуванням ваг.</a:t>
            </a:r>
            <a:endParaRPr lang="uk-UA" noProof="1"/>
          </a:p>
        </p:txBody>
      </p:sp>
      <p:sp>
        <p:nvSpPr>
          <p:cNvPr id="4" name="TextBox 3">
            <a:extLst>
              <a:ext uri="{FF2B5EF4-FFF2-40B4-BE49-F238E27FC236}">
                <a16:creationId xmlns:a16="http://schemas.microsoft.com/office/drawing/2014/main" id="{BE70BDB4-AFED-A505-28A8-8294EB52D320}"/>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3.3 Програмна реалізація</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8" name="Text 5"/>
          <p:cNvSpPr/>
          <p:nvPr/>
        </p:nvSpPr>
        <p:spPr>
          <a:xfrm>
            <a:off x="863964" y="1338902"/>
            <a:ext cx="3125867" cy="461665"/>
          </a:xfrm>
          <a:prstGeom prst="rect">
            <a:avLst/>
          </a:prstGeom>
          <a:noFill/>
          <a:ln/>
        </p:spPr>
        <p:txBody>
          <a:bodyPr wrap="square" rtlCol="0" anchor="ctr">
            <a:spAutoFit/>
          </a:bodyPr>
          <a:lstStyle/>
          <a:p>
            <a:pPr marL="0" indent="0">
              <a:buNone/>
            </a:pPr>
            <a:r>
              <a:rPr lang="uk-UA" sz="2400" b="1" noProof="1">
                <a:solidFill>
                  <a:srgbClr val="0F172A"/>
                </a:solidFill>
                <a:latin typeface="Calibri" pitchFamily="34" charset="0"/>
                <a:ea typeface="Calibri" pitchFamily="34" charset="-122"/>
                <a:cs typeface="Calibri" pitchFamily="34" charset="-120"/>
              </a:rPr>
              <a:t>Ключові елементи</a:t>
            </a:r>
            <a:r>
              <a:rPr lang="en-US" sz="2400" b="1" noProof="1">
                <a:solidFill>
                  <a:srgbClr val="0F172A"/>
                </a:solidFill>
                <a:latin typeface="Calibri" pitchFamily="34" charset="0"/>
                <a:ea typeface="Calibri" pitchFamily="34" charset="-122"/>
                <a:cs typeface="Calibri" pitchFamily="34" charset="-120"/>
              </a:rPr>
              <a:t>:</a:t>
            </a:r>
            <a:endParaRPr lang="uk-UA" sz="2400" noProof="1"/>
          </a:p>
        </p:txBody>
      </p:sp>
      <p:sp>
        <p:nvSpPr>
          <p:cNvPr id="9" name="Text 6"/>
          <p:cNvSpPr/>
          <p:nvPr/>
        </p:nvSpPr>
        <p:spPr>
          <a:xfrm>
            <a:off x="8549640" y="2148840"/>
            <a:ext cx="2926080" cy="3840480"/>
          </a:xfrm>
          <a:prstGeom prst="rect">
            <a:avLst/>
          </a:prstGeom>
          <a:noFill/>
          <a:ln/>
        </p:spPr>
        <p:txBody>
          <a:bodyPr wrap="square" rtlCol="0" anchor="t"/>
          <a:lstStyle/>
          <a:p>
            <a:pPr marL="228600" indent="-228600">
              <a:spcAft>
                <a:spcPts val="600"/>
              </a:spcAft>
              <a:buSzPct val="100000"/>
              <a:buChar char="•"/>
            </a:pPr>
            <a:endParaRPr lang="uk-UA" sz="1400" noProof="1"/>
          </a:p>
        </p:txBody>
      </p:sp>
      <p:sp>
        <p:nvSpPr>
          <p:cNvPr id="10" name="Shape 4">
            <a:extLst>
              <a:ext uri="{FF2B5EF4-FFF2-40B4-BE49-F238E27FC236}">
                <a16:creationId xmlns:a16="http://schemas.microsoft.com/office/drawing/2014/main" id="{B67EF576-6603-14AD-766C-4F3E038C7293}"/>
              </a:ext>
            </a:extLst>
          </p:cNvPr>
          <p:cNvSpPr/>
          <p:nvPr/>
        </p:nvSpPr>
        <p:spPr>
          <a:xfrm>
            <a:off x="716280" y="1871300"/>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normAutofit/>
          </a:bodyPr>
          <a:lstStyle/>
          <a:p>
            <a:pPr algn="ctr">
              <a:spcAft>
                <a:spcPts val="600"/>
              </a:spcAft>
              <a:buSzPct val="100000"/>
            </a:pPr>
            <a:r>
              <a:rPr lang="uk-UA" noProof="1">
                <a:solidFill>
                  <a:srgbClr val="334155"/>
                </a:solidFill>
                <a:latin typeface="Calibri" pitchFamily="34" charset="0"/>
                <a:ea typeface="Calibri" pitchFamily="34" charset="-122"/>
                <a:cs typeface="Calibri" pitchFamily="34" charset="-120"/>
              </a:rPr>
              <a:t>Єдиний JSON-формат події</a:t>
            </a:r>
            <a:endParaRPr lang="uk-UA" noProof="1"/>
          </a:p>
        </p:txBody>
      </p:sp>
      <p:sp>
        <p:nvSpPr>
          <p:cNvPr id="12" name="Shape 4">
            <a:extLst>
              <a:ext uri="{FF2B5EF4-FFF2-40B4-BE49-F238E27FC236}">
                <a16:creationId xmlns:a16="http://schemas.microsoft.com/office/drawing/2014/main" id="{D1FBF787-4439-76BA-EA95-C2C3CB01FEFC}"/>
              </a:ext>
            </a:extLst>
          </p:cNvPr>
          <p:cNvSpPr/>
          <p:nvPr/>
        </p:nvSpPr>
        <p:spPr>
          <a:xfrm>
            <a:off x="716280" y="5403766"/>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lstStyle/>
          <a:p>
            <a:pPr algn="ctr">
              <a:spcAft>
                <a:spcPts val="600"/>
              </a:spcAft>
              <a:buSzPct val="100000"/>
            </a:pPr>
            <a:r>
              <a:rPr lang="uk-UA" noProof="1">
                <a:solidFill>
                  <a:schemeClr val="tx1">
                    <a:lumMod val="75000"/>
                    <a:lumOff val="25000"/>
                  </a:schemeClr>
                </a:solidFill>
              </a:rPr>
              <a:t>Окремі сервери для </a:t>
            </a:r>
          </a:p>
          <a:p>
            <a:pPr algn="ctr">
              <a:spcAft>
                <a:spcPts val="600"/>
              </a:spcAft>
              <a:buSzPct val="100000"/>
            </a:pPr>
            <a:r>
              <a:rPr lang="en-US" noProof="1">
                <a:solidFill>
                  <a:schemeClr val="tx1">
                    <a:lumMod val="75000"/>
                    <a:lumOff val="25000"/>
                  </a:schemeClr>
                </a:solidFill>
              </a:rPr>
              <a:t>WS, Socket.IO, SSE</a:t>
            </a:r>
            <a:endParaRPr lang="uk-UA" noProof="1">
              <a:solidFill>
                <a:schemeClr val="tx1">
                  <a:lumMod val="75000"/>
                  <a:lumOff val="25000"/>
                </a:schemeClr>
              </a:solidFill>
            </a:endParaRPr>
          </a:p>
        </p:txBody>
      </p:sp>
      <p:sp>
        <p:nvSpPr>
          <p:cNvPr id="14" name="Shape 4">
            <a:extLst>
              <a:ext uri="{FF2B5EF4-FFF2-40B4-BE49-F238E27FC236}">
                <a16:creationId xmlns:a16="http://schemas.microsoft.com/office/drawing/2014/main" id="{134800B4-0DEF-275A-C736-2143D532FB7B}"/>
              </a:ext>
            </a:extLst>
          </p:cNvPr>
          <p:cNvSpPr/>
          <p:nvPr/>
        </p:nvSpPr>
        <p:spPr>
          <a:xfrm>
            <a:off x="716280" y="4211556"/>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lstStyle/>
          <a:p>
            <a:pPr algn="ctr">
              <a:spcAft>
                <a:spcPts val="600"/>
              </a:spcAft>
              <a:buSzPct val="100000"/>
            </a:pPr>
            <a:r>
              <a:rPr lang="uk-UA" noProof="1">
                <a:solidFill>
                  <a:srgbClr val="334155"/>
                </a:solidFill>
                <a:latin typeface="Calibri" pitchFamily="34" charset="0"/>
                <a:ea typeface="Calibri" pitchFamily="34" charset="-122"/>
                <a:cs typeface="Calibri" pitchFamily="34" charset="-120"/>
              </a:rPr>
              <a:t>Єдиний </a:t>
            </a:r>
            <a:r>
              <a:rPr lang="uk-UA" noProof="1">
                <a:solidFill>
                  <a:schemeClr val="tx1">
                    <a:lumMod val="75000"/>
                    <a:lumOff val="25000"/>
                  </a:schemeClr>
                </a:solidFill>
                <a:latin typeface="Calibri" pitchFamily="34" charset="0"/>
                <a:ea typeface="Calibri" pitchFamily="34" charset="-122"/>
                <a:cs typeface="Calibri" pitchFamily="34" charset="-120"/>
              </a:rPr>
              <a:t>обробник</a:t>
            </a:r>
            <a:r>
              <a:rPr lang="uk-UA" noProof="1">
                <a:solidFill>
                  <a:srgbClr val="334155"/>
                </a:solidFill>
                <a:latin typeface="Calibri" pitchFamily="34" charset="0"/>
                <a:ea typeface="Calibri" pitchFamily="34" charset="-122"/>
                <a:cs typeface="Calibri" pitchFamily="34" charset="-120"/>
              </a:rPr>
              <a:t> </a:t>
            </a:r>
            <a:r>
              <a:rPr lang="en-US" noProof="1">
                <a:solidFill>
                  <a:srgbClr val="334155"/>
                </a:solidFill>
                <a:latin typeface="Calibri" pitchFamily="34" charset="0"/>
                <a:ea typeface="Calibri" pitchFamily="34" charset="-122"/>
                <a:cs typeface="Calibri" pitchFamily="34" charset="-120"/>
              </a:rPr>
              <a:t>useExperiment</a:t>
            </a:r>
            <a:r>
              <a:rPr lang="uk-UA" noProof="1">
                <a:solidFill>
                  <a:srgbClr val="334155"/>
                </a:solidFill>
                <a:latin typeface="Calibri" pitchFamily="34" charset="0"/>
                <a:ea typeface="Calibri" pitchFamily="34" charset="-122"/>
                <a:cs typeface="Calibri" pitchFamily="34" charset="-120"/>
              </a:rPr>
              <a:t>()</a:t>
            </a:r>
            <a:endParaRPr lang="uk-UA" noProof="1"/>
          </a:p>
        </p:txBody>
      </p:sp>
      <p:sp>
        <p:nvSpPr>
          <p:cNvPr id="15" name="Shape 4">
            <a:extLst>
              <a:ext uri="{FF2B5EF4-FFF2-40B4-BE49-F238E27FC236}">
                <a16:creationId xmlns:a16="http://schemas.microsoft.com/office/drawing/2014/main" id="{5F003D25-0010-59C8-30F2-35910E9E4E07}"/>
              </a:ext>
            </a:extLst>
          </p:cNvPr>
          <p:cNvSpPr/>
          <p:nvPr/>
        </p:nvSpPr>
        <p:spPr>
          <a:xfrm>
            <a:off x="716280" y="3019346"/>
            <a:ext cx="3273552" cy="1077313"/>
          </a:xfrm>
          <a:prstGeom prst="roundRect">
            <a:avLst/>
          </a:prstGeom>
          <a:solidFill>
            <a:srgbClr val="FFFFFF"/>
          </a:solidFill>
          <a:ln w="12700">
            <a:solidFill>
              <a:srgbClr val="E2E8F0"/>
            </a:solidFill>
            <a:prstDash val="solid"/>
          </a:ln>
          <a:effectLst>
            <a:outerShdw blurRad="38100" dist="15240" dir="2700000" algn="bl" rotWithShape="0">
              <a:srgbClr val="000000">
                <a:alpha val="12000"/>
              </a:srgbClr>
            </a:outerShdw>
          </a:effectLst>
        </p:spPr>
        <p:txBody>
          <a:bodyPr anchor="ctr" anchorCtr="0"/>
          <a:lstStyle/>
          <a:p>
            <a:pPr algn="ctr">
              <a:spcAft>
                <a:spcPts val="600"/>
              </a:spcAft>
              <a:buSzPct val="100000"/>
            </a:pPr>
            <a:r>
              <a:rPr lang="uk-UA" noProof="1">
                <a:solidFill>
                  <a:srgbClr val="334155"/>
                </a:solidFill>
                <a:latin typeface="Calibri" pitchFamily="34" charset="0"/>
                <a:ea typeface="Calibri" pitchFamily="34" charset="-122"/>
                <a:cs typeface="Calibri" pitchFamily="34" charset="-120"/>
              </a:rPr>
              <a:t>6 каналів </a:t>
            </a:r>
            <a:r>
              <a:rPr lang="uk-UA" noProof="1">
                <a:solidFill>
                  <a:schemeClr val="tx1">
                    <a:lumMod val="75000"/>
                    <a:lumOff val="25000"/>
                  </a:schemeClr>
                </a:solidFill>
                <a:latin typeface="Calibri" pitchFamily="34" charset="0"/>
                <a:ea typeface="Calibri" pitchFamily="34" charset="-122"/>
                <a:cs typeface="Calibri" pitchFamily="34" charset="-120"/>
              </a:rPr>
              <a:t>доставки</a:t>
            </a:r>
            <a:r>
              <a:rPr lang="uk-UA" noProof="1">
                <a:solidFill>
                  <a:srgbClr val="334155"/>
                </a:solidFill>
                <a:latin typeface="Calibri" pitchFamily="34" charset="0"/>
                <a:ea typeface="Calibri" pitchFamily="34" charset="-122"/>
                <a:cs typeface="Calibri" pitchFamily="34" charset="-120"/>
              </a:rPr>
              <a:t> (polling…GraphQL)</a:t>
            </a:r>
            <a:endParaRPr lang="uk-UA" noProof="1"/>
          </a:p>
        </p:txBody>
      </p:sp>
      <p:sp>
        <p:nvSpPr>
          <p:cNvPr id="4" name="TextBox 3">
            <a:extLst>
              <a:ext uri="{FF2B5EF4-FFF2-40B4-BE49-F238E27FC236}">
                <a16:creationId xmlns:a16="http://schemas.microsoft.com/office/drawing/2014/main" id="{CD480642-8055-2501-7157-34F7E23A9903}"/>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9</a:t>
            </a:r>
          </a:p>
        </p:txBody>
      </p:sp>
      <p:pic>
        <p:nvPicPr>
          <p:cNvPr id="6" name="Рисунок 5">
            <a:extLst>
              <a:ext uri="{FF2B5EF4-FFF2-40B4-BE49-F238E27FC236}">
                <a16:creationId xmlns:a16="http://schemas.microsoft.com/office/drawing/2014/main" id="{F24DAE6F-B04B-99BB-862B-FF354332D906}"/>
              </a:ext>
            </a:extLst>
          </p:cNvPr>
          <p:cNvPicPr>
            <a:picLocks noChangeAspect="1"/>
          </p:cNvPicPr>
          <p:nvPr/>
        </p:nvPicPr>
        <p:blipFill>
          <a:blip r:embed="rId3"/>
          <a:stretch>
            <a:fillRect/>
          </a:stretch>
        </p:blipFill>
        <p:spPr>
          <a:xfrm>
            <a:off x="5467546" y="0"/>
            <a:ext cx="6084374" cy="6875202"/>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0BC64-D6A0-C925-DE27-7FBB2321F93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D93FF86-3F3F-D46F-6C35-3FC0B446EBE3}"/>
              </a:ext>
            </a:extLst>
          </p:cNvPr>
          <p:cNvSpPr/>
          <p:nvPr/>
        </p:nvSpPr>
        <p:spPr>
          <a:xfrm>
            <a:off x="640080" y="320040"/>
            <a:ext cx="10972800" cy="548640"/>
          </a:xfrm>
          <a:prstGeom prst="rect">
            <a:avLst/>
          </a:prstGeom>
          <a:noFill/>
          <a:ln/>
        </p:spPr>
        <p:txBody>
          <a:bodyPr wrap="square" rtlCol="0" anchor="ctr"/>
          <a:lstStyle/>
          <a:p>
            <a:pPr marL="0" indent="0">
              <a:buNone/>
            </a:pPr>
            <a:r>
              <a:rPr lang="en-US" sz="3200" b="1" noProof="1">
                <a:solidFill>
                  <a:srgbClr val="0F172A"/>
                </a:solidFill>
                <a:latin typeface="Calibri" pitchFamily="34" charset="0"/>
                <a:ea typeface="Calibri" pitchFamily="34" charset="-122"/>
                <a:cs typeface="Calibri" pitchFamily="34" charset="-120"/>
              </a:rPr>
              <a:t>4 </a:t>
            </a:r>
            <a:r>
              <a:rPr lang="uk-UA" sz="3200" b="1" noProof="1">
                <a:solidFill>
                  <a:srgbClr val="0F172A"/>
                </a:solidFill>
                <a:latin typeface="Calibri" pitchFamily="34" charset="0"/>
                <a:ea typeface="Calibri" pitchFamily="34" charset="-122"/>
                <a:cs typeface="Calibri" pitchFamily="34" charset="-120"/>
              </a:rPr>
              <a:t>Результати практичного експерименту</a:t>
            </a:r>
            <a:endParaRPr lang="uk-UA" sz="3200" noProof="1"/>
          </a:p>
        </p:txBody>
      </p:sp>
      <p:sp>
        <p:nvSpPr>
          <p:cNvPr id="3" name="Shape 1">
            <a:extLst>
              <a:ext uri="{FF2B5EF4-FFF2-40B4-BE49-F238E27FC236}">
                <a16:creationId xmlns:a16="http://schemas.microsoft.com/office/drawing/2014/main" id="{29DAEA93-4333-4E1B-EEA1-FCCDD1F30BD3}"/>
              </a:ext>
            </a:extLst>
          </p:cNvPr>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9" name="Text 6">
            <a:extLst>
              <a:ext uri="{FF2B5EF4-FFF2-40B4-BE49-F238E27FC236}">
                <a16:creationId xmlns:a16="http://schemas.microsoft.com/office/drawing/2014/main" id="{8EC6F878-837E-33A5-639F-6AAE1C075F19}"/>
              </a:ext>
            </a:extLst>
          </p:cNvPr>
          <p:cNvSpPr/>
          <p:nvPr/>
        </p:nvSpPr>
        <p:spPr>
          <a:xfrm>
            <a:off x="8549640" y="2148840"/>
            <a:ext cx="2926080" cy="3840480"/>
          </a:xfrm>
          <a:prstGeom prst="rect">
            <a:avLst/>
          </a:prstGeom>
          <a:noFill/>
          <a:ln/>
        </p:spPr>
        <p:txBody>
          <a:bodyPr wrap="square" rtlCol="0" anchor="t"/>
          <a:lstStyle/>
          <a:p>
            <a:pPr marL="228600" indent="-228600">
              <a:spcAft>
                <a:spcPts val="600"/>
              </a:spcAft>
              <a:buSzPct val="100000"/>
              <a:buChar char="•"/>
            </a:pPr>
            <a:endParaRPr lang="uk-UA" sz="1400" noProof="1"/>
          </a:p>
        </p:txBody>
      </p:sp>
      <p:graphicFrame>
        <p:nvGraphicFramePr>
          <p:cNvPr id="4" name="Діаграма 3">
            <a:extLst>
              <a:ext uri="{FF2B5EF4-FFF2-40B4-BE49-F238E27FC236}">
                <a16:creationId xmlns:a16="http://schemas.microsoft.com/office/drawing/2014/main" id="{85CF2D5C-ACBF-594F-7FF4-91C636ED8961}"/>
              </a:ext>
            </a:extLst>
          </p:cNvPr>
          <p:cNvGraphicFramePr/>
          <p:nvPr>
            <p:extLst>
              <p:ext uri="{D42A27DB-BD31-4B8C-83A1-F6EECF244321}">
                <p14:modId xmlns:p14="http://schemas.microsoft.com/office/powerpoint/2010/main" val="2636524737"/>
              </p:ext>
            </p:extLst>
          </p:nvPr>
        </p:nvGraphicFramePr>
        <p:xfrm>
          <a:off x="1502797" y="1281751"/>
          <a:ext cx="9231464" cy="5062358"/>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C9B11725-4291-D748-9D61-A34C905FB1B5}"/>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10</a:t>
            </a:r>
          </a:p>
        </p:txBody>
      </p:sp>
    </p:spTree>
    <p:extLst>
      <p:ext uri="{BB962C8B-B14F-4D97-AF65-F5344CB8AC3E}">
        <p14:creationId xmlns:p14="http://schemas.microsoft.com/office/powerpoint/2010/main" val="15822338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2B5150-AB1C-6D81-8F42-61876BF51A00}"/>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3F153FA-6854-8656-739A-480E5B99904A}"/>
              </a:ext>
            </a:extLst>
          </p:cNvPr>
          <p:cNvSpPr/>
          <p:nvPr/>
        </p:nvSpPr>
        <p:spPr>
          <a:xfrm>
            <a:off x="640080" y="320040"/>
            <a:ext cx="10972800" cy="548640"/>
          </a:xfrm>
          <a:prstGeom prst="rect">
            <a:avLst/>
          </a:prstGeom>
          <a:noFill/>
          <a:ln/>
        </p:spPr>
        <p:txBody>
          <a:bodyPr wrap="square" rtlCol="0" anchor="ctr"/>
          <a:lstStyle/>
          <a:p>
            <a:pPr marL="0" indent="0">
              <a:buNone/>
            </a:pPr>
            <a:r>
              <a:rPr lang="en-US" sz="3200" b="1" noProof="1">
                <a:solidFill>
                  <a:srgbClr val="0F172A"/>
                </a:solidFill>
                <a:latin typeface="Calibri" pitchFamily="34" charset="0"/>
                <a:ea typeface="Calibri" pitchFamily="34" charset="-122"/>
                <a:cs typeface="Calibri" pitchFamily="34" charset="-120"/>
              </a:rPr>
              <a:t>4 </a:t>
            </a:r>
            <a:r>
              <a:rPr lang="uk-UA" sz="3200" b="1" noProof="1">
                <a:solidFill>
                  <a:srgbClr val="0F172A"/>
                </a:solidFill>
                <a:latin typeface="Calibri" pitchFamily="34" charset="0"/>
                <a:ea typeface="Calibri" pitchFamily="34" charset="-122"/>
                <a:cs typeface="Calibri" pitchFamily="34" charset="-120"/>
              </a:rPr>
              <a:t>Результати практичного експерименту</a:t>
            </a:r>
            <a:endParaRPr lang="uk-UA" sz="3200" noProof="1"/>
          </a:p>
        </p:txBody>
      </p:sp>
      <p:sp>
        <p:nvSpPr>
          <p:cNvPr id="3" name="Shape 1">
            <a:extLst>
              <a:ext uri="{FF2B5EF4-FFF2-40B4-BE49-F238E27FC236}">
                <a16:creationId xmlns:a16="http://schemas.microsoft.com/office/drawing/2014/main" id="{C57CF9F6-6142-05FE-B189-55F4A2371FF0}"/>
              </a:ext>
            </a:extLst>
          </p:cNvPr>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9" name="Text 6">
            <a:extLst>
              <a:ext uri="{FF2B5EF4-FFF2-40B4-BE49-F238E27FC236}">
                <a16:creationId xmlns:a16="http://schemas.microsoft.com/office/drawing/2014/main" id="{FB4AABE1-EA42-CE63-93EA-6A1E707F3ECE}"/>
              </a:ext>
            </a:extLst>
          </p:cNvPr>
          <p:cNvSpPr/>
          <p:nvPr/>
        </p:nvSpPr>
        <p:spPr>
          <a:xfrm>
            <a:off x="8549640" y="2148840"/>
            <a:ext cx="2926080" cy="3840480"/>
          </a:xfrm>
          <a:prstGeom prst="rect">
            <a:avLst/>
          </a:prstGeom>
          <a:noFill/>
          <a:ln/>
        </p:spPr>
        <p:txBody>
          <a:bodyPr wrap="square" rtlCol="0" anchor="t"/>
          <a:lstStyle/>
          <a:p>
            <a:pPr marL="228600" indent="-228600">
              <a:spcAft>
                <a:spcPts val="600"/>
              </a:spcAft>
              <a:buSzPct val="100000"/>
              <a:buChar char="•"/>
            </a:pPr>
            <a:endParaRPr lang="uk-UA" sz="1400" noProof="1"/>
          </a:p>
        </p:txBody>
      </p:sp>
      <p:graphicFrame>
        <p:nvGraphicFramePr>
          <p:cNvPr id="5" name="Діаграма 4">
            <a:extLst>
              <a:ext uri="{FF2B5EF4-FFF2-40B4-BE49-F238E27FC236}">
                <a16:creationId xmlns:a16="http://schemas.microsoft.com/office/drawing/2014/main" id="{DB81EE7F-9F74-5499-D51C-6C493FA64A1A}"/>
              </a:ext>
            </a:extLst>
          </p:cNvPr>
          <p:cNvGraphicFramePr/>
          <p:nvPr>
            <p:extLst>
              <p:ext uri="{D42A27DB-BD31-4B8C-83A1-F6EECF244321}">
                <p14:modId xmlns:p14="http://schemas.microsoft.com/office/powerpoint/2010/main" val="3069293630"/>
              </p:ext>
            </p:extLst>
          </p:nvPr>
        </p:nvGraphicFramePr>
        <p:xfrm>
          <a:off x="1288112" y="1373984"/>
          <a:ext cx="9875520" cy="5255813"/>
        </p:xfrm>
        <a:graphic>
          <a:graphicData uri="http://schemas.openxmlformats.org/drawingml/2006/chart">
            <c:chart xmlns:c="http://schemas.openxmlformats.org/drawingml/2006/chart" xmlns:r="http://schemas.openxmlformats.org/officeDocument/2006/relationships" r:id="rId3"/>
          </a:graphicData>
        </a:graphic>
      </p:graphicFrame>
      <p:sp>
        <p:nvSpPr>
          <p:cNvPr id="4" name="TextBox 3">
            <a:extLst>
              <a:ext uri="{FF2B5EF4-FFF2-40B4-BE49-F238E27FC236}">
                <a16:creationId xmlns:a16="http://schemas.microsoft.com/office/drawing/2014/main" id="{002E3970-B876-AE11-40AD-AE9AB3E0E769}"/>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11</a:t>
            </a:r>
          </a:p>
        </p:txBody>
      </p:sp>
    </p:spTree>
    <p:extLst>
      <p:ext uri="{BB962C8B-B14F-4D97-AF65-F5344CB8AC3E}">
        <p14:creationId xmlns:p14="http://schemas.microsoft.com/office/powerpoint/2010/main" val="2849614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a:effectLst/>
      </p:bgPr>
    </p:bg>
    <p:spTree>
      <p:nvGrpSpPr>
        <p:cNvPr id="1" name=""/>
        <p:cNvGrpSpPr/>
        <p:nvPr/>
      </p:nvGrpSpPr>
      <p:grpSpPr>
        <a:xfrm>
          <a:off x="0" y="0"/>
          <a:ext cx="0" cy="0"/>
          <a:chOff x="0" y="0"/>
          <a:chExt cx="0" cy="0"/>
        </a:xfrm>
      </p:grpSpPr>
      <p:sp>
        <p:nvSpPr>
          <p:cNvPr id="2" name="Text 0"/>
          <p:cNvSpPr/>
          <p:nvPr/>
        </p:nvSpPr>
        <p:spPr>
          <a:xfrm>
            <a:off x="640080" y="320040"/>
            <a:ext cx="10972800" cy="548640"/>
          </a:xfrm>
          <a:prstGeom prst="rect">
            <a:avLst/>
          </a:prstGeom>
          <a:noFill/>
          <a:ln/>
        </p:spPr>
        <p:txBody>
          <a:bodyPr wrap="square" rtlCol="0" anchor="ctr"/>
          <a:lstStyle/>
          <a:p>
            <a:pPr marL="0" indent="0">
              <a:buNone/>
            </a:pPr>
            <a:r>
              <a:rPr lang="uk-UA" sz="3200" b="1" noProof="1">
                <a:solidFill>
                  <a:srgbClr val="0F172A"/>
                </a:solidFill>
                <a:latin typeface="Calibri" pitchFamily="34" charset="0"/>
                <a:ea typeface="Calibri" pitchFamily="34" charset="-122"/>
                <a:cs typeface="Calibri" pitchFamily="34" charset="-120"/>
              </a:rPr>
              <a:t>Висновки та рекомендації</a:t>
            </a:r>
            <a:endParaRPr lang="uk-UA" sz="3200" noProof="1"/>
          </a:p>
        </p:txBody>
      </p:sp>
      <p:sp>
        <p:nvSpPr>
          <p:cNvPr id="3" name="Shape 1"/>
          <p:cNvSpPr/>
          <p:nvPr/>
        </p:nvSpPr>
        <p:spPr>
          <a:xfrm>
            <a:off x="640080" y="932688"/>
            <a:ext cx="2011680" cy="73152"/>
          </a:xfrm>
          <a:prstGeom prst="rect">
            <a:avLst/>
          </a:prstGeom>
          <a:solidFill>
            <a:srgbClr val="2563EB"/>
          </a:solidFill>
          <a:ln w="12700">
            <a:solidFill>
              <a:srgbClr val="2563EB"/>
            </a:solidFill>
            <a:prstDash val="solid"/>
          </a:ln>
        </p:spPr>
        <p:txBody>
          <a:bodyPr/>
          <a:lstStyle/>
          <a:p>
            <a:endParaRPr lang="uk-UA" noProof="1"/>
          </a:p>
        </p:txBody>
      </p:sp>
      <p:sp>
        <p:nvSpPr>
          <p:cNvPr id="5" name="Shape 3"/>
          <p:cNvSpPr/>
          <p:nvPr/>
        </p:nvSpPr>
        <p:spPr>
          <a:xfrm>
            <a:off x="777240" y="150876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6" name="Shape 4"/>
          <p:cNvSpPr/>
          <p:nvPr/>
        </p:nvSpPr>
        <p:spPr>
          <a:xfrm>
            <a:off x="777240" y="1508760"/>
            <a:ext cx="91440" cy="1325880"/>
          </a:xfrm>
          <a:prstGeom prst="rect">
            <a:avLst/>
          </a:prstGeom>
          <a:solidFill>
            <a:srgbClr val="2563EB"/>
          </a:solidFill>
          <a:ln w="12700">
            <a:solidFill>
              <a:srgbClr val="2563EB"/>
            </a:solidFill>
            <a:prstDash val="solid"/>
          </a:ln>
        </p:spPr>
        <p:txBody>
          <a:bodyPr/>
          <a:lstStyle/>
          <a:p>
            <a:endParaRPr lang="uk-UA" noProof="1"/>
          </a:p>
        </p:txBody>
      </p:sp>
      <p:sp>
        <p:nvSpPr>
          <p:cNvPr id="7" name="Text 5"/>
          <p:cNvSpPr/>
          <p:nvPr/>
        </p:nvSpPr>
        <p:spPr>
          <a:xfrm>
            <a:off x="1005840" y="169164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WebSocket</a:t>
            </a:r>
            <a:endParaRPr lang="uk-UA" sz="2000" noProof="1"/>
          </a:p>
        </p:txBody>
      </p:sp>
      <p:sp>
        <p:nvSpPr>
          <p:cNvPr id="8" name="Text 6"/>
          <p:cNvSpPr/>
          <p:nvPr/>
        </p:nvSpPr>
        <p:spPr>
          <a:xfrm>
            <a:off x="1005840" y="193040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Базовий вибір для</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двонапрямного real-time</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та мінімальної затримки.</a:t>
            </a:r>
            <a:endParaRPr lang="uk-UA" sz="1600" noProof="1"/>
          </a:p>
        </p:txBody>
      </p:sp>
      <p:sp>
        <p:nvSpPr>
          <p:cNvPr id="9" name="Shape 7"/>
          <p:cNvSpPr/>
          <p:nvPr/>
        </p:nvSpPr>
        <p:spPr>
          <a:xfrm>
            <a:off x="4846320" y="150876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0" name="Shape 8"/>
          <p:cNvSpPr/>
          <p:nvPr/>
        </p:nvSpPr>
        <p:spPr>
          <a:xfrm>
            <a:off x="4846320" y="1508760"/>
            <a:ext cx="91440" cy="1325880"/>
          </a:xfrm>
          <a:prstGeom prst="rect">
            <a:avLst/>
          </a:prstGeom>
          <a:solidFill>
            <a:srgbClr val="22C55E"/>
          </a:solidFill>
          <a:ln w="12700">
            <a:solidFill>
              <a:srgbClr val="22C55E"/>
            </a:solidFill>
            <a:prstDash val="solid"/>
          </a:ln>
        </p:spPr>
        <p:txBody>
          <a:bodyPr/>
          <a:lstStyle/>
          <a:p>
            <a:endParaRPr lang="uk-UA" noProof="1"/>
          </a:p>
        </p:txBody>
      </p:sp>
      <p:sp>
        <p:nvSpPr>
          <p:cNvPr id="11" name="Text 9"/>
          <p:cNvSpPr/>
          <p:nvPr/>
        </p:nvSpPr>
        <p:spPr>
          <a:xfrm>
            <a:off x="5074920" y="169164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SSE</a:t>
            </a:r>
            <a:endParaRPr lang="uk-UA" sz="2000" noProof="1"/>
          </a:p>
        </p:txBody>
      </p:sp>
      <p:sp>
        <p:nvSpPr>
          <p:cNvPr id="12" name="Text 10"/>
          <p:cNvSpPr/>
          <p:nvPr/>
        </p:nvSpPr>
        <p:spPr>
          <a:xfrm>
            <a:off x="5074920" y="193040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Коли потрібен потік</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оновлень server→client</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(стрічки/сповіщення).</a:t>
            </a:r>
            <a:endParaRPr lang="uk-UA" sz="1600" noProof="1"/>
          </a:p>
        </p:txBody>
      </p:sp>
      <p:sp>
        <p:nvSpPr>
          <p:cNvPr id="13" name="Shape 11"/>
          <p:cNvSpPr/>
          <p:nvPr/>
        </p:nvSpPr>
        <p:spPr>
          <a:xfrm>
            <a:off x="777240" y="315468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4" name="Shape 12"/>
          <p:cNvSpPr/>
          <p:nvPr/>
        </p:nvSpPr>
        <p:spPr>
          <a:xfrm>
            <a:off x="777240" y="3154680"/>
            <a:ext cx="91440" cy="1325880"/>
          </a:xfrm>
          <a:prstGeom prst="rect">
            <a:avLst/>
          </a:prstGeom>
          <a:solidFill>
            <a:srgbClr val="1D4ED8"/>
          </a:solidFill>
          <a:ln w="12700">
            <a:solidFill>
              <a:srgbClr val="1D4ED8"/>
            </a:solidFill>
            <a:prstDash val="solid"/>
          </a:ln>
        </p:spPr>
        <p:txBody>
          <a:bodyPr/>
          <a:lstStyle/>
          <a:p>
            <a:endParaRPr lang="uk-UA" noProof="1"/>
          </a:p>
        </p:txBody>
      </p:sp>
      <p:sp>
        <p:nvSpPr>
          <p:cNvPr id="15" name="Text 13"/>
          <p:cNvSpPr/>
          <p:nvPr/>
        </p:nvSpPr>
        <p:spPr>
          <a:xfrm>
            <a:off x="1005840" y="333756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Socket.IO</a:t>
            </a:r>
            <a:endParaRPr lang="uk-UA" sz="2000" noProof="1"/>
          </a:p>
        </p:txBody>
      </p:sp>
      <p:sp>
        <p:nvSpPr>
          <p:cNvPr id="16" name="Text 14"/>
          <p:cNvSpPr/>
          <p:nvPr/>
        </p:nvSpPr>
        <p:spPr>
          <a:xfrm>
            <a:off x="1005840" y="357632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Коли важливі</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reconnect/fallback</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та подієва модель.</a:t>
            </a:r>
            <a:endParaRPr lang="uk-UA" sz="1600" noProof="1"/>
          </a:p>
        </p:txBody>
      </p:sp>
      <p:sp>
        <p:nvSpPr>
          <p:cNvPr id="17" name="Shape 15"/>
          <p:cNvSpPr/>
          <p:nvPr/>
        </p:nvSpPr>
        <p:spPr>
          <a:xfrm>
            <a:off x="4846320" y="315468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18" name="Shape 16"/>
          <p:cNvSpPr/>
          <p:nvPr/>
        </p:nvSpPr>
        <p:spPr>
          <a:xfrm>
            <a:off x="4846320" y="3154680"/>
            <a:ext cx="91440" cy="1325880"/>
          </a:xfrm>
          <a:prstGeom prst="rect">
            <a:avLst/>
          </a:prstGeom>
          <a:solidFill>
            <a:srgbClr val="F97316"/>
          </a:solidFill>
          <a:ln w="12700">
            <a:solidFill>
              <a:srgbClr val="F97316"/>
            </a:solidFill>
            <a:prstDash val="solid"/>
          </a:ln>
        </p:spPr>
        <p:txBody>
          <a:bodyPr/>
          <a:lstStyle/>
          <a:p>
            <a:endParaRPr lang="uk-UA" noProof="1"/>
          </a:p>
        </p:txBody>
      </p:sp>
      <p:sp>
        <p:nvSpPr>
          <p:cNvPr id="19" name="Text 17"/>
          <p:cNvSpPr/>
          <p:nvPr/>
        </p:nvSpPr>
        <p:spPr>
          <a:xfrm>
            <a:off x="5074920" y="333756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Long polling</a:t>
            </a:r>
            <a:endParaRPr lang="uk-UA" sz="2000" noProof="1"/>
          </a:p>
        </p:txBody>
      </p:sp>
      <p:sp>
        <p:nvSpPr>
          <p:cNvPr id="20" name="Text 18"/>
          <p:cNvSpPr/>
          <p:nvPr/>
        </p:nvSpPr>
        <p:spPr>
          <a:xfrm>
            <a:off x="5074920" y="357632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Компроміс, якщо</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persistent-з’єднання</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обмежені інфраструктурою.</a:t>
            </a:r>
            <a:endParaRPr lang="uk-UA" sz="1600" noProof="1"/>
          </a:p>
        </p:txBody>
      </p:sp>
      <p:sp>
        <p:nvSpPr>
          <p:cNvPr id="21" name="Shape 19"/>
          <p:cNvSpPr/>
          <p:nvPr/>
        </p:nvSpPr>
        <p:spPr>
          <a:xfrm>
            <a:off x="777240" y="480060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22" name="Shape 20"/>
          <p:cNvSpPr/>
          <p:nvPr/>
        </p:nvSpPr>
        <p:spPr>
          <a:xfrm>
            <a:off x="777240" y="4800600"/>
            <a:ext cx="91440" cy="1325880"/>
          </a:xfrm>
          <a:prstGeom prst="rect">
            <a:avLst/>
          </a:prstGeom>
          <a:solidFill>
            <a:srgbClr val="7C3AED"/>
          </a:solidFill>
          <a:ln w="12700">
            <a:solidFill>
              <a:srgbClr val="7C3AED"/>
            </a:solidFill>
            <a:prstDash val="solid"/>
          </a:ln>
        </p:spPr>
        <p:txBody>
          <a:bodyPr/>
          <a:lstStyle/>
          <a:p>
            <a:endParaRPr lang="uk-UA" noProof="1"/>
          </a:p>
        </p:txBody>
      </p:sp>
      <p:sp>
        <p:nvSpPr>
          <p:cNvPr id="23" name="Text 21"/>
          <p:cNvSpPr/>
          <p:nvPr/>
        </p:nvSpPr>
        <p:spPr>
          <a:xfrm>
            <a:off x="1005840" y="498348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GraphQL Subs</a:t>
            </a:r>
            <a:endParaRPr lang="uk-UA" sz="2000" noProof="1"/>
          </a:p>
        </p:txBody>
      </p:sp>
      <p:sp>
        <p:nvSpPr>
          <p:cNvPr id="24" name="Text 22"/>
          <p:cNvSpPr/>
          <p:nvPr/>
        </p:nvSpPr>
        <p:spPr>
          <a:xfrm>
            <a:off x="1005840" y="522224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Доречно в GraphQL-</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орієнтованій архітектурі</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(єдиний контракт даних).</a:t>
            </a:r>
            <a:endParaRPr lang="uk-UA" sz="1600" noProof="1"/>
          </a:p>
        </p:txBody>
      </p:sp>
      <p:sp>
        <p:nvSpPr>
          <p:cNvPr id="25" name="Shape 23"/>
          <p:cNvSpPr/>
          <p:nvPr/>
        </p:nvSpPr>
        <p:spPr>
          <a:xfrm>
            <a:off x="4846320" y="4800600"/>
            <a:ext cx="3154680" cy="1325880"/>
          </a:xfrm>
          <a:prstGeom prst="roundRect">
            <a:avLst/>
          </a:prstGeom>
          <a:solidFill>
            <a:srgbClr val="FFFFFF"/>
          </a:solidFill>
          <a:ln w="12700">
            <a:solidFill>
              <a:srgbClr val="E2E8F0"/>
            </a:solidFill>
            <a:prstDash val="solid"/>
          </a:ln>
          <a:effectLst>
            <a:outerShdw blurRad="38100" dist="19050" dir="2700000" algn="bl" rotWithShape="0">
              <a:srgbClr val="000000">
                <a:alpha val="16000"/>
              </a:srgbClr>
            </a:outerShdw>
          </a:effectLst>
        </p:spPr>
        <p:txBody>
          <a:bodyPr/>
          <a:lstStyle/>
          <a:p>
            <a:endParaRPr lang="uk-UA" noProof="1"/>
          </a:p>
        </p:txBody>
      </p:sp>
      <p:sp>
        <p:nvSpPr>
          <p:cNvPr id="26" name="Shape 24"/>
          <p:cNvSpPr/>
          <p:nvPr/>
        </p:nvSpPr>
        <p:spPr>
          <a:xfrm>
            <a:off x="4846320" y="4800600"/>
            <a:ext cx="91440" cy="1325880"/>
          </a:xfrm>
          <a:prstGeom prst="rect">
            <a:avLst/>
          </a:prstGeom>
          <a:solidFill>
            <a:srgbClr val="64748B"/>
          </a:solidFill>
          <a:ln w="12700">
            <a:solidFill>
              <a:srgbClr val="64748B"/>
            </a:solidFill>
            <a:prstDash val="solid"/>
          </a:ln>
        </p:spPr>
        <p:txBody>
          <a:bodyPr/>
          <a:lstStyle/>
          <a:p>
            <a:endParaRPr lang="uk-UA" noProof="1"/>
          </a:p>
        </p:txBody>
      </p:sp>
      <p:sp>
        <p:nvSpPr>
          <p:cNvPr id="27" name="Text 25"/>
          <p:cNvSpPr/>
          <p:nvPr/>
        </p:nvSpPr>
        <p:spPr>
          <a:xfrm>
            <a:off x="5074920" y="4983480"/>
            <a:ext cx="3337560" cy="320040"/>
          </a:xfrm>
          <a:prstGeom prst="rect">
            <a:avLst/>
          </a:prstGeom>
          <a:noFill/>
          <a:ln/>
        </p:spPr>
        <p:txBody>
          <a:bodyPr wrap="square" rtlCol="0" anchor="ctr"/>
          <a:lstStyle/>
          <a:p>
            <a:pPr marL="0" indent="0">
              <a:buNone/>
            </a:pPr>
            <a:r>
              <a:rPr lang="uk-UA" sz="2000" b="1" noProof="1">
                <a:solidFill>
                  <a:srgbClr val="0F172A"/>
                </a:solidFill>
                <a:latin typeface="Calibri" pitchFamily="34" charset="0"/>
                <a:ea typeface="Calibri" pitchFamily="34" charset="-122"/>
                <a:cs typeface="Calibri" pitchFamily="34" charset="-120"/>
              </a:rPr>
              <a:t>Short polling</a:t>
            </a:r>
            <a:endParaRPr lang="uk-UA" sz="2000" noProof="1"/>
          </a:p>
        </p:txBody>
      </p:sp>
      <p:sp>
        <p:nvSpPr>
          <p:cNvPr id="28" name="Text 26"/>
          <p:cNvSpPr/>
          <p:nvPr/>
        </p:nvSpPr>
        <p:spPr>
          <a:xfrm>
            <a:off x="5074920" y="5222240"/>
            <a:ext cx="3337560" cy="739648"/>
          </a:xfrm>
          <a:prstGeom prst="rect">
            <a:avLst/>
          </a:prstGeom>
          <a:noFill/>
          <a:ln/>
        </p:spPr>
        <p:txBody>
          <a:bodyPr wrap="square" rtlCol="0" anchor="t"/>
          <a:lstStyle/>
          <a:p>
            <a:pPr marL="0" indent="0">
              <a:buNone/>
            </a:pPr>
            <a:r>
              <a:rPr lang="uk-UA" sz="1600" noProof="1">
                <a:solidFill>
                  <a:srgbClr val="334155"/>
                </a:solidFill>
                <a:latin typeface="Calibri" pitchFamily="34" charset="0"/>
                <a:ea typeface="Calibri" pitchFamily="34" charset="-122"/>
                <a:cs typeface="Calibri" pitchFamily="34" charset="-120"/>
              </a:rPr>
              <a:t>Найпростіший</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резервний варіант</a:t>
            </a:r>
            <a:endParaRPr lang="uk-UA" sz="1600" noProof="1"/>
          </a:p>
          <a:p>
            <a:pPr marL="0" indent="0">
              <a:buNone/>
            </a:pPr>
            <a:r>
              <a:rPr lang="uk-UA" sz="1600" noProof="1">
                <a:solidFill>
                  <a:srgbClr val="334155"/>
                </a:solidFill>
                <a:latin typeface="Calibri" pitchFamily="34" charset="0"/>
                <a:ea typeface="Calibri" pitchFamily="34" charset="-122"/>
                <a:cs typeface="Calibri" pitchFamily="34" charset="-120"/>
              </a:rPr>
              <a:t>(ціна — оверхед і затримка).</a:t>
            </a:r>
            <a:endParaRPr lang="uk-UA" sz="1600" noProof="1"/>
          </a:p>
        </p:txBody>
      </p:sp>
      <p:sp>
        <p:nvSpPr>
          <p:cNvPr id="29" name="Shape 27"/>
          <p:cNvSpPr/>
          <p:nvPr/>
        </p:nvSpPr>
        <p:spPr>
          <a:xfrm>
            <a:off x="8823960" y="1508760"/>
            <a:ext cx="2788920" cy="4617720"/>
          </a:xfrm>
          <a:prstGeom prst="roundRect">
            <a:avLst/>
          </a:prstGeom>
          <a:solidFill>
            <a:srgbClr val="0B1220"/>
          </a:solidFill>
          <a:ln w="12700">
            <a:solidFill>
              <a:srgbClr val="0B1220"/>
            </a:solidFill>
            <a:prstDash val="solid"/>
          </a:ln>
          <a:effectLst>
            <a:outerShdw blurRad="50800" dist="25400" dir="2700000" algn="bl" rotWithShape="0">
              <a:srgbClr val="000000">
                <a:alpha val="22000"/>
              </a:srgbClr>
            </a:outerShdw>
          </a:effectLst>
        </p:spPr>
        <p:txBody>
          <a:bodyPr/>
          <a:lstStyle/>
          <a:p>
            <a:endParaRPr lang="uk-UA" noProof="1"/>
          </a:p>
        </p:txBody>
      </p:sp>
      <p:sp>
        <p:nvSpPr>
          <p:cNvPr id="30" name="Text 28"/>
          <p:cNvSpPr/>
          <p:nvPr/>
        </p:nvSpPr>
        <p:spPr>
          <a:xfrm>
            <a:off x="9540240" y="1737360"/>
            <a:ext cx="1280160" cy="365760"/>
          </a:xfrm>
          <a:prstGeom prst="rect">
            <a:avLst/>
          </a:prstGeom>
          <a:noFill/>
          <a:ln/>
        </p:spPr>
        <p:txBody>
          <a:bodyPr wrap="square" rtlCol="0" anchor="ctr"/>
          <a:lstStyle/>
          <a:p>
            <a:pPr marL="0" indent="0">
              <a:buNone/>
            </a:pPr>
            <a:r>
              <a:rPr lang="uk-UA" sz="2000" b="1" noProof="1">
                <a:solidFill>
                  <a:srgbClr val="93C5FD"/>
                </a:solidFill>
                <a:latin typeface="Calibri" pitchFamily="34" charset="0"/>
                <a:ea typeface="Calibri" pitchFamily="34" charset="-122"/>
                <a:cs typeface="Calibri" pitchFamily="34" charset="-120"/>
              </a:rPr>
              <a:t>Підсумок</a:t>
            </a:r>
            <a:endParaRPr lang="uk-UA" sz="2000" noProof="1"/>
          </a:p>
        </p:txBody>
      </p:sp>
      <p:sp>
        <p:nvSpPr>
          <p:cNvPr id="31" name="Text 29"/>
          <p:cNvSpPr/>
          <p:nvPr/>
        </p:nvSpPr>
        <p:spPr>
          <a:xfrm>
            <a:off x="8961120" y="2377440"/>
            <a:ext cx="2651760" cy="3073400"/>
          </a:xfrm>
          <a:prstGeom prst="rect">
            <a:avLst/>
          </a:prstGeom>
          <a:noFill/>
          <a:ln/>
        </p:spPr>
        <p:txBody>
          <a:bodyPr wrap="square" rtlCol="0" anchor="t"/>
          <a:lstStyle/>
          <a:p>
            <a:pPr marL="228600" indent="-228600">
              <a:spcAft>
                <a:spcPts val="800"/>
              </a:spcAft>
              <a:buSzPct val="100000"/>
              <a:buChar char="•"/>
            </a:pPr>
            <a:r>
              <a:rPr lang="uk-UA" noProof="1">
                <a:solidFill>
                  <a:srgbClr val="E2E8F0"/>
                </a:solidFill>
                <a:latin typeface="Calibri" pitchFamily="34" charset="0"/>
                <a:ea typeface="Calibri" pitchFamily="34" charset="-122"/>
                <a:cs typeface="Calibri" pitchFamily="34" charset="-120"/>
              </a:rPr>
              <a:t>Persistent канали дають найкращу latency/overhead</a:t>
            </a:r>
            <a:endParaRPr lang="uk-UA" noProof="1"/>
          </a:p>
          <a:p>
            <a:pPr marL="228600" indent="-228600">
              <a:spcAft>
                <a:spcPts val="800"/>
              </a:spcAft>
              <a:buSzPct val="100000"/>
              <a:buChar char="•"/>
            </a:pPr>
            <a:r>
              <a:rPr lang="uk-UA" noProof="1">
                <a:solidFill>
                  <a:srgbClr val="E2E8F0"/>
                </a:solidFill>
                <a:latin typeface="Calibri" pitchFamily="34" charset="0"/>
                <a:ea typeface="Calibri" pitchFamily="34" charset="-122"/>
                <a:cs typeface="Calibri" pitchFamily="34" charset="-120"/>
              </a:rPr>
              <a:t>Вибір = баланс критеріїв + контекст інфраструктури</a:t>
            </a:r>
            <a:endParaRPr lang="uk-UA" noProof="1"/>
          </a:p>
          <a:p>
            <a:pPr marL="228600" indent="-228600">
              <a:spcAft>
                <a:spcPts val="800"/>
              </a:spcAft>
              <a:buSzPct val="100000"/>
              <a:buChar char="•"/>
            </a:pPr>
            <a:r>
              <a:rPr lang="uk-UA" noProof="1">
                <a:solidFill>
                  <a:srgbClr val="E2E8F0"/>
                </a:solidFill>
                <a:latin typeface="Calibri" pitchFamily="34" charset="0"/>
                <a:ea typeface="Calibri" pitchFamily="34" charset="-122"/>
                <a:cs typeface="Calibri" pitchFamily="34" charset="-120"/>
              </a:rPr>
              <a:t>Рекомендації зручно оформити як “матрицю сценаріїв”</a:t>
            </a:r>
            <a:endParaRPr lang="uk-UA" noProof="1"/>
          </a:p>
        </p:txBody>
      </p:sp>
      <p:sp>
        <p:nvSpPr>
          <p:cNvPr id="4" name="TextBox 3">
            <a:extLst>
              <a:ext uri="{FF2B5EF4-FFF2-40B4-BE49-F238E27FC236}">
                <a16:creationId xmlns:a16="http://schemas.microsoft.com/office/drawing/2014/main" id="{1D4BECDF-1484-A6A1-F837-1E47EEDE4861}"/>
              </a:ext>
            </a:extLst>
          </p:cNvPr>
          <p:cNvSpPr txBox="1"/>
          <p:nvPr/>
        </p:nvSpPr>
        <p:spPr>
          <a:xfrm>
            <a:off x="11651530" y="6476214"/>
            <a:ext cx="540470" cy="307777"/>
          </a:xfrm>
          <a:prstGeom prst="rect">
            <a:avLst/>
          </a:prstGeom>
          <a:noFill/>
        </p:spPr>
        <p:txBody>
          <a:bodyPr wrap="square" rtlCol="0">
            <a:spAutoFit/>
          </a:bodyPr>
          <a:lstStyle/>
          <a:p>
            <a:pPr algn="ctr"/>
            <a:r>
              <a:rPr lang="uk-UA" sz="1400" dirty="0">
                <a:solidFill>
                  <a:schemeClr val="bg1">
                    <a:lumMod val="50000"/>
                  </a:schemeClr>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Офіс">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359</TotalTime>
  <Words>1594</Words>
  <Application>Microsoft Office PowerPoint</Application>
  <PresentationFormat>Широкий екран</PresentationFormat>
  <Paragraphs>204</Paragraphs>
  <Slides>12</Slides>
  <Notes>12</Notes>
  <HiddenSlides>0</HiddenSlides>
  <MMClips>0</MMClips>
  <ScaleCrop>false</ScaleCrop>
  <HeadingPairs>
    <vt:vector size="6" baseType="variant">
      <vt:variant>
        <vt:lpstr>Використані шрифти</vt:lpstr>
      </vt:variant>
      <vt:variant>
        <vt:i4>2</vt:i4>
      </vt:variant>
      <vt:variant>
        <vt:lpstr>Тема</vt:lpstr>
      </vt:variant>
      <vt:variant>
        <vt:i4>1</vt:i4>
      </vt:variant>
      <vt:variant>
        <vt:lpstr>Заголовки слайдів</vt:lpstr>
      </vt:variant>
      <vt:variant>
        <vt:i4>12</vt:i4>
      </vt:variant>
    </vt:vector>
  </HeadingPairs>
  <TitlesOfParts>
    <vt:vector size="15" baseType="lpstr">
      <vt:lpstr>Arial</vt:lpstr>
      <vt:lpstr>Calibri</vt:lpstr>
      <vt:lpstr>Office Theme</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lpstr>Презентація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Generated by ChatGPT</dc:creator>
  <cp:lastModifiedBy>Юхим Кащенко</cp:lastModifiedBy>
  <cp:revision>11</cp:revision>
  <dcterms:created xsi:type="dcterms:W3CDTF">2025-12-26T23:01:24Z</dcterms:created>
  <dcterms:modified xsi:type="dcterms:W3CDTF">2026-05-20T13:41:40Z</dcterms:modified>
</cp:coreProperties>
</file>