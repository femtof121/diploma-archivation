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uk-U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U(A)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Short polling</c:v>
                </c:pt>
                <c:pt idx="1">
                  <c:v>Long polling</c:v>
                </c:pt>
                <c:pt idx="2">
                  <c:v>SSE</c:v>
                </c:pt>
                <c:pt idx="3">
                  <c:v>WebSocket</c:v>
                </c:pt>
                <c:pt idx="4">
                  <c:v>Socket.IO</c:v>
                </c:pt>
                <c:pt idx="5">
                  <c:v>GraphQL Subs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0.38</c:v>
                </c:pt>
                <c:pt idx="1">
                  <c:v>0.39</c:v>
                </c:pt>
                <c:pt idx="2">
                  <c:v>0.5</c:v>
                </c:pt>
                <c:pt idx="3">
                  <c:v>0.89</c:v>
                </c:pt>
                <c:pt idx="4">
                  <c:v>0.69</c:v>
                </c:pt>
                <c:pt idx="5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1-4073-8B72-794B581214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1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 (WebSocket RFC 6455)
- https://html.spec.whatwg.org/multipage/server-sent-events.html (SSE in HTML Standard)
- https://socket.io/docs/v4/ (Socket.IO docs)
- https://graphql.org/learn/subscriptions/ (GraphQL Subscriptions overview)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
- https://html.spec.whatwg.org/multipage/server-sent-events.html
- https://socket.io/docs/v4/
- https://graphql.org/learn/subscriptions/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 (WebSocket fundamentals)
- https://html.spec.whatwg.org/multipage/server-sent-events.html (SSE model)
- https://developer.mozilla.org/en-US/docs/Web/API/WebSockets_API (browser API)
- https://developer.mozilla.org/en-US/docs/Web/API/EventSource (SSE browser API)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https://html.spec.whatwg.org/multipage/server-sent-events.html (SSE)
- https://datatracker.ietf.org/doc/html/rfc6455 (WebSocket)
- https://socket.io/docs/v4/ (Socket.IO overview; fallback described in docs)
- https://graphql.org/learn/subscriptions/ (GraphQL Subscriptions)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 (RFC 6455)
- https://html.spec.whatwg.org/multipage/server-sent-events.html (SSE spec)
- https://developer.mozilla.org/en-US/docs/Web/API/WebSockets_API (MDN WebSocket API)
- https://developer.mozilla.org/en-US/docs/Web/API/EventSource (MDN EventSource)
- https://socket.io/docs/v4/ (Socket.IO docs)
- https://graphql.org/learn/subscriptions/ (GraphQL Subscriptions)
- https://www.diva-portal.org/smash/get/diva2:1133465/FULLTEXT01.pdf (performance comparison thesis)
- https://csitjournal.khmnu.edu.ua/index.php/csit/article/view/214 (supervisor-related publication page)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
- https://html.spec.whatwg.org/multipage/server-sent-events.html
- https://socket.io/docs/v4/
- https://graphql.org/learn/subscriptions/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https://en.wikipedia.org/wiki/Pareto_efficiency (Pareto principle background; optional)
- https://www.cambridge.org/core/books/decisions-with-multiple-objectives/ (Keeney &amp; Raiffa; multi-criteria utility)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Власні розрахунки в записці (Таблиця «Значення корисності», U(A)).
- https://www.cambridge.org/core/books/decisions-with-multiple-objectives/ (utility approach background)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Diagram created for this presentation (no external visual source).
- https://developer.mozilla.org/en-US/docs/Web/API/WebSockets_API (browser WebSocket)
- https://developer.mozilla.org/en-US/docs/Web/API/EventSource (browser SSE)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https://datatracker.ietf.org/doc/html/rfc6455 (WebSocket)
- https://html.spec.whatwg.org/multipage/server-sent-events.html (SSE)
- https://socket.io/docs/v4/ (Socket.IO)
- https://graphql.org/learn/subscriptions/ (GraphQL Subscriptions)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" name="Text 1"/>
          <p:cNvSpPr/>
          <p:nvPr/>
        </p:nvSpPr>
        <p:spPr>
          <a:xfrm>
            <a:off x="777240" y="594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b="1" noProof="1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</a:t>
            </a:r>
            <a:endParaRPr lang="uk-UA" sz="1400" noProof="1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Дослідження технологій</a:t>
            </a:r>
            <a:r>
              <a:rPr lang="en-US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обміну даними у</a:t>
            </a:r>
            <a:r>
              <a:rPr lang="en-US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реальному часі</a:t>
            </a:r>
            <a:r>
              <a:rPr lang="en-US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uk-UA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 клієнтом та сервером</a:t>
            </a:r>
            <a:r>
              <a:rPr lang="en-US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побудова моделі оцінки їх продуктивності у вебзастосунках</a:t>
            </a:r>
            <a:endParaRPr lang="uk-UA" sz="3600" noProof="1"/>
          </a:p>
        </p:txBody>
      </p:sp>
      <p:sp>
        <p:nvSpPr>
          <p:cNvPr id="5" name="Shape 3"/>
          <p:cNvSpPr/>
          <p:nvPr/>
        </p:nvSpPr>
        <p:spPr>
          <a:xfrm>
            <a:off x="777240" y="3063240"/>
            <a:ext cx="384048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uk-UA" sz="1600" noProof="1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5394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sz="2000" noProof="1"/>
          </a:p>
        </p:txBody>
      </p:sp>
      <p:sp>
        <p:nvSpPr>
          <p:cNvPr id="8" name="Shape 6"/>
          <p:cNvSpPr/>
          <p:nvPr/>
        </p:nvSpPr>
        <p:spPr>
          <a:xfrm>
            <a:off x="777240" y="3977640"/>
            <a:ext cx="91440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Виконавець та керівник</a:t>
            </a:r>
            <a:endParaRPr lang="uk-UA" sz="2000" noProof="1"/>
          </a:p>
        </p:txBody>
      </p:sp>
      <p:sp>
        <p:nvSpPr>
          <p:cNvPr id="10" name="Text 8"/>
          <p:cNvSpPr/>
          <p:nvPr/>
        </p:nvSpPr>
        <p:spPr>
          <a:xfrm>
            <a:off x="1005840" y="454456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Кащенко  Ю. Є.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Група: ІПЗм-24-3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Кравець Н. С.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Рік: 2026</a:t>
            </a:r>
            <a:endParaRPr lang="uk-UA" noProof="1"/>
          </a:p>
        </p:txBody>
      </p:sp>
      <p:sp>
        <p:nvSpPr>
          <p:cNvPr id="11" name="Shape 9"/>
          <p:cNvSpPr/>
          <p:nvPr/>
        </p:nvSpPr>
        <p:spPr>
          <a:xfrm>
            <a:off x="6446520" y="3977640"/>
            <a:ext cx="4965192" cy="2148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2" name="Text 10"/>
          <p:cNvSpPr/>
          <p:nvPr/>
        </p:nvSpPr>
        <p:spPr>
          <a:xfrm>
            <a:off x="66751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</a:t>
            </a:r>
            <a:endParaRPr lang="uk-UA" sz="2000" noProof="1"/>
          </a:p>
        </p:txBody>
      </p:sp>
      <p:sp>
        <p:nvSpPr>
          <p:cNvPr id="13" name="Text 11"/>
          <p:cNvSpPr/>
          <p:nvPr/>
        </p:nvSpPr>
        <p:spPr>
          <a:xfrm>
            <a:off x="6675120" y="45262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задача → 6 каналів доставки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за затримкою, оверхедом, масштабуванням + багатокритеріальний вибір</a:t>
            </a:r>
            <a:endParaRPr lang="uk-UA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роботи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960120" y="181051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960120" y="182880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uk-UA" sz="1400" noProof="1"/>
          </a:p>
        </p:txBody>
      </p:sp>
      <p:sp>
        <p:nvSpPr>
          <p:cNvPr id="8" name="Text 6"/>
          <p:cNvSpPr/>
          <p:nvPr/>
        </p:nvSpPr>
        <p:spPr>
          <a:xfrm>
            <a:off x="1463040" y="1746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Аналіз предметної галузі</a:t>
            </a:r>
            <a:endParaRPr lang="uk-UA" sz="1800" noProof="1"/>
          </a:p>
        </p:txBody>
      </p:sp>
      <p:sp>
        <p:nvSpPr>
          <p:cNvPr id="9" name="Text 7"/>
          <p:cNvSpPr/>
          <p:nvPr/>
        </p:nvSpPr>
        <p:spPr>
          <a:xfrm>
            <a:off x="146304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noProof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сценарії, вимоги, спектр технологій</a:t>
            </a:r>
            <a:endParaRPr lang="uk-UA" sz="1300" noProof="1"/>
          </a:p>
        </p:txBody>
      </p:sp>
      <p:sp>
        <p:nvSpPr>
          <p:cNvPr id="10" name="Shape 8"/>
          <p:cNvSpPr/>
          <p:nvPr/>
        </p:nvSpPr>
        <p:spPr>
          <a:xfrm>
            <a:off x="6492240" y="160020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1" name="Shape 9"/>
          <p:cNvSpPr/>
          <p:nvPr/>
        </p:nvSpPr>
        <p:spPr>
          <a:xfrm>
            <a:off x="6675120" y="181051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2" name="Text 10"/>
          <p:cNvSpPr/>
          <p:nvPr/>
        </p:nvSpPr>
        <p:spPr>
          <a:xfrm>
            <a:off x="6675120" y="182880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uk-UA" sz="1400" noProof="1"/>
          </a:p>
        </p:txBody>
      </p:sp>
      <p:sp>
        <p:nvSpPr>
          <p:cNvPr id="13" name="Text 11"/>
          <p:cNvSpPr/>
          <p:nvPr/>
        </p:nvSpPr>
        <p:spPr>
          <a:xfrm>
            <a:off x="7178040" y="1746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Огляд літератури</a:t>
            </a:r>
            <a:endParaRPr lang="uk-UA" sz="1800" noProof="1"/>
          </a:p>
        </p:txBody>
      </p:sp>
      <p:sp>
        <p:nvSpPr>
          <p:cNvPr id="14" name="Text 12"/>
          <p:cNvSpPr/>
          <p:nvPr/>
        </p:nvSpPr>
        <p:spPr>
          <a:xfrm>
            <a:off x="7178040" y="20574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noProof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стандарти, документація, порівняльні роботи</a:t>
            </a:r>
            <a:endParaRPr lang="uk-UA" sz="1300" noProof="1"/>
          </a:p>
        </p:txBody>
      </p:sp>
      <p:sp>
        <p:nvSpPr>
          <p:cNvPr id="15" name="Shape 13"/>
          <p:cNvSpPr/>
          <p:nvPr/>
        </p:nvSpPr>
        <p:spPr>
          <a:xfrm>
            <a:off x="777240" y="292608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6" name="Shape 14"/>
          <p:cNvSpPr/>
          <p:nvPr/>
        </p:nvSpPr>
        <p:spPr>
          <a:xfrm>
            <a:off x="960120" y="31363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7" name="Text 15"/>
          <p:cNvSpPr/>
          <p:nvPr/>
        </p:nvSpPr>
        <p:spPr>
          <a:xfrm>
            <a:off x="960120" y="31546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uk-UA" sz="1400" noProof="1"/>
          </a:p>
        </p:txBody>
      </p:sp>
      <p:sp>
        <p:nvSpPr>
          <p:cNvPr id="18" name="Text 16"/>
          <p:cNvSpPr/>
          <p:nvPr/>
        </p:nvSpPr>
        <p:spPr>
          <a:xfrm>
            <a:off x="1463040" y="30723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uk-UA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Теоретичне дослідження</a:t>
            </a:r>
            <a:endParaRPr lang="uk-UA" noProof="1"/>
          </a:p>
        </p:txBody>
      </p:sp>
      <p:sp>
        <p:nvSpPr>
          <p:cNvPr id="19" name="Text 17"/>
          <p:cNvSpPr/>
          <p:nvPr/>
        </p:nvSpPr>
        <p:spPr>
          <a:xfrm>
            <a:off x="1463040" y="33832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uk-UA" sz="1300" noProof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багатокритеріальний вибір (Pareto)</a:t>
            </a:r>
            <a:endParaRPr lang="uk-UA" sz="1300" noProof="1"/>
          </a:p>
        </p:txBody>
      </p:sp>
      <p:sp>
        <p:nvSpPr>
          <p:cNvPr id="20" name="Shape 18"/>
          <p:cNvSpPr/>
          <p:nvPr/>
        </p:nvSpPr>
        <p:spPr>
          <a:xfrm>
            <a:off x="6492240" y="292608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1" name="Shape 19"/>
          <p:cNvSpPr/>
          <p:nvPr/>
        </p:nvSpPr>
        <p:spPr>
          <a:xfrm>
            <a:off x="6675120" y="313639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2" name="Text 20"/>
          <p:cNvSpPr/>
          <p:nvPr/>
        </p:nvSpPr>
        <p:spPr>
          <a:xfrm>
            <a:off x="6675120" y="31546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uk-UA" sz="1400" noProof="1"/>
          </a:p>
        </p:txBody>
      </p:sp>
      <p:sp>
        <p:nvSpPr>
          <p:cNvPr id="23" name="Text 21"/>
          <p:cNvSpPr/>
          <p:nvPr/>
        </p:nvSpPr>
        <p:spPr>
          <a:xfrm>
            <a:off x="7178040" y="30723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Дослідження затримки</a:t>
            </a:r>
            <a:endParaRPr lang="uk-UA" sz="1800" noProof="1"/>
          </a:p>
        </p:txBody>
      </p:sp>
      <p:sp>
        <p:nvSpPr>
          <p:cNvPr id="24" name="Text 22"/>
          <p:cNvSpPr/>
          <p:nvPr/>
        </p:nvSpPr>
        <p:spPr>
          <a:xfrm>
            <a:off x="7178040" y="33832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noProof="1">
                <a:solidFill>
                  <a:schemeClr val="accent3">
                    <a:lumMod val="50000"/>
                  </a:schemeClr>
                </a:solidFill>
              </a:rPr>
              <a:t>результати практичного дослідження щодо затримки</a:t>
            </a:r>
          </a:p>
        </p:txBody>
      </p:sp>
      <p:sp>
        <p:nvSpPr>
          <p:cNvPr id="25" name="Shape 23"/>
          <p:cNvSpPr/>
          <p:nvPr/>
        </p:nvSpPr>
        <p:spPr>
          <a:xfrm>
            <a:off x="777240" y="425196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6" name="Shape 24"/>
          <p:cNvSpPr/>
          <p:nvPr/>
        </p:nvSpPr>
        <p:spPr>
          <a:xfrm>
            <a:off x="960120" y="446227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7" name="Text 25"/>
          <p:cNvSpPr/>
          <p:nvPr/>
        </p:nvSpPr>
        <p:spPr>
          <a:xfrm>
            <a:off x="960120" y="44805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uk-UA" sz="1400" noProof="1"/>
          </a:p>
        </p:txBody>
      </p:sp>
      <p:sp>
        <p:nvSpPr>
          <p:cNvPr id="28" name="Text 26"/>
          <p:cNvSpPr/>
          <p:nvPr/>
        </p:nvSpPr>
        <p:spPr>
          <a:xfrm>
            <a:off x="1463040" y="439826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Дослідження використаного трафіку</a:t>
            </a:r>
            <a:endParaRPr lang="uk-UA" sz="1800" noProof="1"/>
          </a:p>
        </p:txBody>
      </p:sp>
      <p:sp>
        <p:nvSpPr>
          <p:cNvPr id="29" name="Text 27"/>
          <p:cNvSpPr/>
          <p:nvPr/>
        </p:nvSpPr>
        <p:spPr>
          <a:xfrm>
            <a:off x="1463040" y="4709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noProof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практичного дослідження щодо трафіку</a:t>
            </a:r>
          </a:p>
        </p:txBody>
      </p:sp>
      <p:sp>
        <p:nvSpPr>
          <p:cNvPr id="30" name="Shape 28"/>
          <p:cNvSpPr/>
          <p:nvPr/>
        </p:nvSpPr>
        <p:spPr>
          <a:xfrm>
            <a:off x="6492240" y="4251960"/>
            <a:ext cx="5257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31" name="Shape 29"/>
          <p:cNvSpPr/>
          <p:nvPr/>
        </p:nvSpPr>
        <p:spPr>
          <a:xfrm>
            <a:off x="6675120" y="446227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4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uk-UA" sz="1400" noProof="1"/>
          </a:p>
        </p:txBody>
      </p:sp>
      <p:sp>
        <p:nvSpPr>
          <p:cNvPr id="33" name="Text 31"/>
          <p:cNvSpPr/>
          <p:nvPr/>
        </p:nvSpPr>
        <p:spPr>
          <a:xfrm>
            <a:off x="7178040" y="439826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uk-UA" sz="1800" noProof="1"/>
          </a:p>
        </p:txBody>
      </p:sp>
      <p:sp>
        <p:nvSpPr>
          <p:cNvPr id="34" name="Text 32"/>
          <p:cNvSpPr/>
          <p:nvPr/>
        </p:nvSpPr>
        <p:spPr>
          <a:xfrm>
            <a:off x="7178040" y="47091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300" noProof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рекомендації вибору технології</a:t>
            </a:r>
            <a:endParaRPr lang="uk-UA" sz="13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Аналіз предметної галузі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85800" y="109270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640080" y="2001520"/>
            <a:ext cx="3388361" cy="3139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640080" y="2001520"/>
            <a:ext cx="91440" cy="3139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868680" y="21844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Типові сценарії</a:t>
            </a:r>
            <a:endParaRPr lang="uk-UA" sz="2400" noProof="1"/>
          </a:p>
        </p:txBody>
      </p:sp>
      <p:sp>
        <p:nvSpPr>
          <p:cNvPr id="8" name="Text 6"/>
          <p:cNvSpPr/>
          <p:nvPr/>
        </p:nvSpPr>
        <p:spPr>
          <a:xfrm>
            <a:off x="914400" y="2664460"/>
            <a:ext cx="33375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Чати, сповіщення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Стрічки подій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Моніторинг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Онлайн-торгівля / котирування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Спільна робота</a:t>
            </a:r>
            <a:endParaRPr lang="uk-UA" noProof="1"/>
          </a:p>
        </p:txBody>
      </p:sp>
      <p:sp>
        <p:nvSpPr>
          <p:cNvPr id="9" name="Shape 7"/>
          <p:cNvSpPr/>
          <p:nvPr/>
        </p:nvSpPr>
        <p:spPr>
          <a:xfrm>
            <a:off x="4389120" y="2001520"/>
            <a:ext cx="3388361" cy="3139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0" name="Shape 8"/>
          <p:cNvSpPr/>
          <p:nvPr/>
        </p:nvSpPr>
        <p:spPr>
          <a:xfrm>
            <a:off x="4389120" y="2001520"/>
            <a:ext cx="91440" cy="3139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1" name="Text 9"/>
          <p:cNvSpPr/>
          <p:nvPr/>
        </p:nvSpPr>
        <p:spPr>
          <a:xfrm>
            <a:off x="4617720" y="21844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вимоги</a:t>
            </a:r>
            <a:endParaRPr lang="uk-UA" sz="2400" noProof="1"/>
          </a:p>
        </p:txBody>
      </p:sp>
      <p:sp>
        <p:nvSpPr>
          <p:cNvPr id="12" name="Text 10"/>
          <p:cNvSpPr/>
          <p:nvPr/>
        </p:nvSpPr>
        <p:spPr>
          <a:xfrm>
            <a:off x="4663440" y="2664460"/>
            <a:ext cx="33375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Низька затримка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Мало “службового” трафіку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Масштабування на N клієнтів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Сумісність (мережі/проксі)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Надійність з’єднання</a:t>
            </a:r>
            <a:endParaRPr lang="uk-UA" noProof="1"/>
          </a:p>
        </p:txBody>
      </p:sp>
      <p:sp>
        <p:nvSpPr>
          <p:cNvPr id="13" name="Shape 11"/>
          <p:cNvSpPr/>
          <p:nvPr/>
        </p:nvSpPr>
        <p:spPr>
          <a:xfrm>
            <a:off x="8138160" y="2001520"/>
            <a:ext cx="3388361" cy="3139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4" name="Shape 12"/>
          <p:cNvSpPr/>
          <p:nvPr/>
        </p:nvSpPr>
        <p:spPr>
          <a:xfrm>
            <a:off x="8138160" y="2001520"/>
            <a:ext cx="91440" cy="3139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5" name="Text 13"/>
          <p:cNvSpPr/>
          <p:nvPr/>
        </p:nvSpPr>
        <p:spPr>
          <a:xfrm>
            <a:off x="8366760" y="2184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 вебу</a:t>
            </a:r>
            <a:endParaRPr lang="uk-UA" sz="2400" noProof="1"/>
          </a:p>
        </p:txBody>
      </p:sp>
      <p:sp>
        <p:nvSpPr>
          <p:cNvPr id="16" name="Text 14"/>
          <p:cNvSpPr/>
          <p:nvPr/>
        </p:nvSpPr>
        <p:spPr>
          <a:xfrm>
            <a:off x="8412480" y="2687320"/>
            <a:ext cx="32461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Браузерні API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Ліміти на з’єднання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Корпоративні проксі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Мобільні мережі</a:t>
            </a:r>
            <a:endParaRPr lang="uk-UA" noProof="1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Повторні підключення</a:t>
            </a:r>
            <a:endParaRPr lang="uk-UA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Проблеми та актуалізація рішень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10789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1051560" y="2039112"/>
            <a:ext cx="640080" cy="6400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</a:t>
            </a:r>
            <a:endParaRPr lang="uk-UA" sz="1100" noProof="1"/>
          </a:p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uk-UA" sz="1100" noProof="1"/>
          </a:p>
        </p:txBody>
      </p:sp>
      <p:sp>
        <p:nvSpPr>
          <p:cNvPr id="8" name="Shape 6"/>
          <p:cNvSpPr/>
          <p:nvPr/>
        </p:nvSpPr>
        <p:spPr>
          <a:xfrm>
            <a:off x="1737360" y="2359152"/>
            <a:ext cx="92354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9" name="Shape 7"/>
          <p:cNvSpPr/>
          <p:nvPr/>
        </p:nvSpPr>
        <p:spPr>
          <a:xfrm>
            <a:off x="2752344" y="2039112"/>
            <a:ext cx="640080" cy="6400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0" name="Text 8"/>
          <p:cNvSpPr/>
          <p:nvPr/>
        </p:nvSpPr>
        <p:spPr>
          <a:xfrm>
            <a:off x="2615184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</a:t>
            </a:r>
            <a:endParaRPr lang="uk-UA" sz="1100" noProof="1"/>
          </a:p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uk-UA" sz="1100" noProof="1"/>
          </a:p>
        </p:txBody>
      </p:sp>
      <p:sp>
        <p:nvSpPr>
          <p:cNvPr id="11" name="Shape 9"/>
          <p:cNvSpPr/>
          <p:nvPr/>
        </p:nvSpPr>
        <p:spPr>
          <a:xfrm>
            <a:off x="3438144" y="2359152"/>
            <a:ext cx="92354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2" name="Shape 10"/>
          <p:cNvSpPr/>
          <p:nvPr/>
        </p:nvSpPr>
        <p:spPr>
          <a:xfrm>
            <a:off x="4453128" y="2039112"/>
            <a:ext cx="640080" cy="6400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3" name="Text 11"/>
          <p:cNvSpPr/>
          <p:nvPr/>
        </p:nvSpPr>
        <p:spPr>
          <a:xfrm>
            <a:off x="4315968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uk-UA" sz="1100" noProof="1"/>
          </a:p>
        </p:txBody>
      </p:sp>
      <p:sp>
        <p:nvSpPr>
          <p:cNvPr id="14" name="Shape 12"/>
          <p:cNvSpPr/>
          <p:nvPr/>
        </p:nvSpPr>
        <p:spPr>
          <a:xfrm>
            <a:off x="5138928" y="2359152"/>
            <a:ext cx="92354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5" name="Shape 13"/>
          <p:cNvSpPr/>
          <p:nvPr/>
        </p:nvSpPr>
        <p:spPr>
          <a:xfrm>
            <a:off x="6153912" y="2039112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6" name="Text 14"/>
          <p:cNvSpPr/>
          <p:nvPr/>
        </p:nvSpPr>
        <p:spPr>
          <a:xfrm>
            <a:off x="6016752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uk-UA" sz="1100" noProof="1"/>
          </a:p>
        </p:txBody>
      </p:sp>
      <p:sp>
        <p:nvSpPr>
          <p:cNvPr id="17" name="Shape 15"/>
          <p:cNvSpPr/>
          <p:nvPr/>
        </p:nvSpPr>
        <p:spPr>
          <a:xfrm>
            <a:off x="6839712" y="2359152"/>
            <a:ext cx="92354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8" name="Shape 16"/>
          <p:cNvSpPr/>
          <p:nvPr/>
        </p:nvSpPr>
        <p:spPr>
          <a:xfrm>
            <a:off x="7854696" y="2039112"/>
            <a:ext cx="640080" cy="6400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Text 17"/>
          <p:cNvSpPr/>
          <p:nvPr/>
        </p:nvSpPr>
        <p:spPr>
          <a:xfrm>
            <a:off x="7717536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uk-UA" sz="1100" noProof="1"/>
          </a:p>
        </p:txBody>
      </p:sp>
      <p:sp>
        <p:nvSpPr>
          <p:cNvPr id="20" name="Shape 18"/>
          <p:cNvSpPr/>
          <p:nvPr/>
        </p:nvSpPr>
        <p:spPr>
          <a:xfrm>
            <a:off x="8540496" y="2359152"/>
            <a:ext cx="923544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1" name="Shape 19"/>
          <p:cNvSpPr/>
          <p:nvPr/>
        </p:nvSpPr>
        <p:spPr>
          <a:xfrm>
            <a:off x="9555480" y="2039112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2" name="Text 20"/>
          <p:cNvSpPr/>
          <p:nvPr/>
        </p:nvSpPr>
        <p:spPr>
          <a:xfrm>
            <a:off x="941832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uk-UA" sz="1100" noProof="1"/>
          </a:p>
          <a:p>
            <a:pPr marL="0" indent="0" algn="ctr">
              <a:buNone/>
            </a:pPr>
            <a:r>
              <a:rPr lang="uk-UA" sz="11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</a:t>
            </a:r>
            <a:endParaRPr lang="uk-UA" sz="1100" noProof="1"/>
          </a:p>
        </p:txBody>
      </p:sp>
      <p:sp>
        <p:nvSpPr>
          <p:cNvPr id="23" name="Shape 21"/>
          <p:cNvSpPr/>
          <p:nvPr/>
        </p:nvSpPr>
        <p:spPr>
          <a:xfrm>
            <a:off x="914400" y="2971800"/>
            <a:ext cx="2926080" cy="3840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4" name="Text 22"/>
          <p:cNvSpPr/>
          <p:nvPr/>
        </p:nvSpPr>
        <p:spPr>
          <a:xfrm>
            <a:off x="91440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(запити клієнта)</a:t>
            </a:r>
            <a:endParaRPr lang="uk-UA" sz="1300" noProof="1"/>
          </a:p>
        </p:txBody>
      </p:sp>
      <p:sp>
        <p:nvSpPr>
          <p:cNvPr id="25" name="Shape 23"/>
          <p:cNvSpPr/>
          <p:nvPr/>
        </p:nvSpPr>
        <p:spPr>
          <a:xfrm>
            <a:off x="4114800" y="2971800"/>
            <a:ext cx="292608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6" name="Text 24"/>
          <p:cNvSpPr/>
          <p:nvPr/>
        </p:nvSpPr>
        <p:spPr>
          <a:xfrm>
            <a:off x="411480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PSEUDO-PUSH</a:t>
            </a:r>
            <a:endParaRPr lang="uk-UA" sz="1300" noProof="1"/>
          </a:p>
        </p:txBody>
      </p:sp>
      <p:sp>
        <p:nvSpPr>
          <p:cNvPr id="27" name="Shape 25"/>
          <p:cNvSpPr/>
          <p:nvPr/>
        </p:nvSpPr>
        <p:spPr>
          <a:xfrm>
            <a:off x="7315200" y="2971800"/>
            <a:ext cx="292608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8" name="Text 26"/>
          <p:cNvSpPr/>
          <p:nvPr/>
        </p:nvSpPr>
        <p:spPr>
          <a:xfrm>
            <a:off x="731520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(постійний канал)</a:t>
            </a:r>
            <a:endParaRPr lang="uk-UA" sz="1300" noProof="1"/>
          </a:p>
        </p:txBody>
      </p:sp>
      <p:sp>
        <p:nvSpPr>
          <p:cNvPr id="29" name="Shape 27"/>
          <p:cNvSpPr/>
          <p:nvPr/>
        </p:nvSpPr>
        <p:spPr>
          <a:xfrm>
            <a:off x="1348740" y="3703320"/>
            <a:ext cx="436168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30" name="Shape 28"/>
          <p:cNvSpPr/>
          <p:nvPr/>
        </p:nvSpPr>
        <p:spPr>
          <a:xfrm>
            <a:off x="1348740" y="3703320"/>
            <a:ext cx="91440" cy="2423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1" name="Text 29"/>
          <p:cNvSpPr/>
          <p:nvPr/>
        </p:nvSpPr>
        <p:spPr>
          <a:xfrm>
            <a:off x="1577340" y="38862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uk-UA" sz="2400" noProof="1"/>
          </a:p>
        </p:txBody>
      </p:sp>
      <p:sp>
        <p:nvSpPr>
          <p:cNvPr id="32" name="Text 30"/>
          <p:cNvSpPr/>
          <p:nvPr/>
        </p:nvSpPr>
        <p:spPr>
          <a:xfrm>
            <a:off x="1577340" y="4270248"/>
            <a:ext cx="4983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створює зайві HTTP-запити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додає затримку, залежну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інтервалу опитування.</a:t>
            </a:r>
            <a:endParaRPr lang="uk-UA" noProof="1"/>
          </a:p>
        </p:txBody>
      </p:sp>
      <p:sp>
        <p:nvSpPr>
          <p:cNvPr id="33" name="Shape 31"/>
          <p:cNvSpPr/>
          <p:nvPr/>
        </p:nvSpPr>
        <p:spPr>
          <a:xfrm>
            <a:off x="6835140" y="3703320"/>
            <a:ext cx="436168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34" name="Shape 32"/>
          <p:cNvSpPr/>
          <p:nvPr/>
        </p:nvSpPr>
        <p:spPr>
          <a:xfrm>
            <a:off x="6835140" y="3703320"/>
            <a:ext cx="91440" cy="2423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5" name="Text 33"/>
          <p:cNvSpPr/>
          <p:nvPr/>
        </p:nvSpPr>
        <p:spPr>
          <a:xfrm>
            <a:off x="7063740" y="3886200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uk-UA" sz="2400" noProof="1"/>
          </a:p>
        </p:txBody>
      </p:sp>
      <p:sp>
        <p:nvSpPr>
          <p:cNvPr id="36" name="Text 34"/>
          <p:cNvSpPr/>
          <p:nvPr/>
        </p:nvSpPr>
        <p:spPr>
          <a:xfrm>
            <a:off x="7063740" y="4270248"/>
            <a:ext cx="49194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Persistent-з’єднання (SSE/WS)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доставляють події одразу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знижують оверхед.</a:t>
            </a:r>
            <a:endParaRPr lang="uk-UA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Огляд та аналіз джерел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44728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987552" y="1993392"/>
            <a:ext cx="137160" cy="7680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1252728" y="196189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</a:t>
            </a:r>
            <a:endParaRPr lang="uk-UA" sz="1800" noProof="1"/>
          </a:p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(RFC/WHATWG)</a:t>
            </a:r>
            <a:endParaRPr lang="uk-UA" sz="1800" noProof="1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413762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9" name="Shape 7"/>
          <p:cNvSpPr/>
          <p:nvPr/>
        </p:nvSpPr>
        <p:spPr>
          <a:xfrm>
            <a:off x="4599432" y="1993392"/>
            <a:ext cx="137160" cy="768096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0" name="Text 8"/>
          <p:cNvSpPr/>
          <p:nvPr/>
        </p:nvSpPr>
        <p:spPr>
          <a:xfrm>
            <a:off x="4855464" y="19705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APIs</a:t>
            </a:r>
            <a:endParaRPr lang="uk-UA" sz="1800" noProof="1"/>
          </a:p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(MDN)</a:t>
            </a:r>
            <a:endParaRPr lang="uk-UA" sz="1800" noProof="1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2" name="Shape 10"/>
          <p:cNvSpPr/>
          <p:nvPr/>
        </p:nvSpPr>
        <p:spPr>
          <a:xfrm>
            <a:off x="8211312" y="1993392"/>
            <a:ext cx="137160" cy="7680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3" name="Text 11"/>
          <p:cNvSpPr/>
          <p:nvPr/>
        </p:nvSpPr>
        <p:spPr>
          <a:xfrm>
            <a:off x="8458200" y="197662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Бібліотеки</a:t>
            </a:r>
            <a:endParaRPr lang="uk-UA" sz="1800" noProof="1"/>
          </a:p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(Socket.IO)</a:t>
            </a:r>
            <a:endParaRPr lang="uk-UA" sz="1800" noProof="1"/>
          </a:p>
        </p:txBody>
      </p:sp>
      <p:sp>
        <p:nvSpPr>
          <p:cNvPr id="14" name="Shape 12"/>
          <p:cNvSpPr/>
          <p:nvPr/>
        </p:nvSpPr>
        <p:spPr>
          <a:xfrm>
            <a:off x="2651760" y="3246120"/>
            <a:ext cx="3840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5" name="Shape 13"/>
          <p:cNvSpPr/>
          <p:nvPr/>
        </p:nvSpPr>
        <p:spPr>
          <a:xfrm>
            <a:off x="2816352" y="3410712"/>
            <a:ext cx="137160" cy="768096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6" name="Text 14"/>
          <p:cNvSpPr/>
          <p:nvPr/>
        </p:nvSpPr>
        <p:spPr>
          <a:xfrm>
            <a:off x="3063240" y="3365754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екосистема</a:t>
            </a:r>
            <a:endParaRPr lang="uk-UA" sz="1800" noProof="1"/>
          </a:p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(Subscriptions)</a:t>
            </a:r>
            <a:endParaRPr lang="uk-UA" sz="1800" noProof="1"/>
          </a:p>
        </p:txBody>
      </p:sp>
      <p:sp>
        <p:nvSpPr>
          <p:cNvPr id="17" name="Shape 15"/>
          <p:cNvSpPr/>
          <p:nvPr/>
        </p:nvSpPr>
        <p:spPr>
          <a:xfrm>
            <a:off x="6720840" y="3246120"/>
            <a:ext cx="40233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8" name="Shape 16"/>
          <p:cNvSpPr/>
          <p:nvPr/>
        </p:nvSpPr>
        <p:spPr>
          <a:xfrm>
            <a:off x="6885432" y="3410712"/>
            <a:ext cx="137160" cy="768096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Text 17"/>
          <p:cNvSpPr/>
          <p:nvPr/>
        </p:nvSpPr>
        <p:spPr>
          <a:xfrm>
            <a:off x="7123176" y="33832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Порівняльні роботи</a:t>
            </a:r>
            <a:endParaRPr lang="uk-UA" sz="1800" noProof="1"/>
          </a:p>
          <a:p>
            <a:pPr marL="0" indent="0">
              <a:buNone/>
            </a:pPr>
            <a:r>
              <a:rPr lang="uk-UA" sz="18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(performance)</a:t>
            </a:r>
            <a:endParaRPr lang="uk-UA" sz="1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Постановка задачі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91440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uk-UA" sz="2400" noProof="1"/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Порівняти 6 підходів доставки подій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обґрунтувати вибір технології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вимогами застосунку.</a:t>
            </a:r>
            <a:endParaRPr lang="uk-UA" noProof="1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91440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Альтернативи</a:t>
            </a:r>
            <a:endParaRPr lang="uk-UA" sz="2400" noProof="1"/>
          </a:p>
        </p:txBody>
      </p:sp>
      <p:sp>
        <p:nvSpPr>
          <p:cNvPr id="12" name="Text 10"/>
          <p:cNvSpPr/>
          <p:nvPr/>
        </p:nvSpPr>
        <p:spPr>
          <a:xfrm>
            <a:off x="6583680" y="2167128"/>
            <a:ext cx="49651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Short/Long polling, SSE, WebSocket,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Socket.IO, GraphQL Subscriptions.</a:t>
            </a:r>
            <a:endParaRPr lang="uk-UA" noProof="1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5149985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4" name="Shape 12"/>
          <p:cNvSpPr/>
          <p:nvPr/>
        </p:nvSpPr>
        <p:spPr>
          <a:xfrm>
            <a:off x="777240" y="3794760"/>
            <a:ext cx="91440" cy="2331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5" name="Text 13"/>
          <p:cNvSpPr/>
          <p:nvPr/>
        </p:nvSpPr>
        <p:spPr>
          <a:xfrm>
            <a:off x="1005840" y="3977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</a:t>
            </a:r>
            <a:endParaRPr lang="uk-UA" sz="2400" noProof="1"/>
          </a:p>
        </p:txBody>
      </p:sp>
      <p:sp>
        <p:nvSpPr>
          <p:cNvPr id="16" name="Text 14"/>
          <p:cNvSpPr/>
          <p:nvPr/>
        </p:nvSpPr>
        <p:spPr>
          <a:xfrm>
            <a:off x="1005840" y="4361688"/>
            <a:ext cx="5120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Network overhead, Scalability,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Reliability/Compatibility.</a:t>
            </a:r>
            <a:endParaRPr lang="uk-UA" noProof="1"/>
          </a:p>
        </p:txBody>
      </p:sp>
      <p:sp>
        <p:nvSpPr>
          <p:cNvPr id="17" name="Shape 15"/>
          <p:cNvSpPr/>
          <p:nvPr/>
        </p:nvSpPr>
        <p:spPr>
          <a:xfrm>
            <a:off x="6355080" y="3794760"/>
            <a:ext cx="51206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8" name="Shape 16"/>
          <p:cNvSpPr/>
          <p:nvPr/>
        </p:nvSpPr>
        <p:spPr>
          <a:xfrm>
            <a:off x="6355080" y="3794760"/>
            <a:ext cx="91440" cy="2331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Text 17"/>
          <p:cNvSpPr/>
          <p:nvPr/>
        </p:nvSpPr>
        <p:spPr>
          <a:xfrm>
            <a:off x="6583680" y="3977640"/>
            <a:ext cx="4965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та сценарії</a:t>
            </a:r>
            <a:endParaRPr lang="uk-UA" sz="2400" noProof="1"/>
          </a:p>
        </p:txBody>
      </p:sp>
      <p:sp>
        <p:nvSpPr>
          <p:cNvPr id="20" name="Text 18"/>
          <p:cNvSpPr/>
          <p:nvPr/>
        </p:nvSpPr>
        <p:spPr>
          <a:xfrm>
            <a:off x="6583680" y="4361688"/>
            <a:ext cx="4965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avg, p50, p95, bytes/event.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Сценарії: часті/рідкі події,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та N клієнтів.</a:t>
            </a:r>
            <a:endParaRPr lang="uk-UA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Багатокритеріальний вибір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Text 4"/>
          <p:cNvSpPr/>
          <p:nvPr/>
        </p:nvSpPr>
        <p:spPr>
          <a:xfrm>
            <a:off x="886968" y="196596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Альтернативи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(A1–A6)</a:t>
            </a:r>
            <a:endParaRPr lang="uk-UA" sz="1600" noProof="1"/>
          </a:p>
        </p:txBody>
      </p:sp>
      <p:sp>
        <p:nvSpPr>
          <p:cNvPr id="7" name="Shape 5"/>
          <p:cNvSpPr/>
          <p:nvPr/>
        </p:nvSpPr>
        <p:spPr>
          <a:xfrm>
            <a:off x="3291840" y="23317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8" name="Shape 6"/>
          <p:cNvSpPr/>
          <p:nvPr/>
        </p:nvSpPr>
        <p:spPr>
          <a:xfrm>
            <a:off x="3520440" y="187452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9" name="Text 7"/>
          <p:cNvSpPr/>
          <p:nvPr/>
        </p:nvSpPr>
        <p:spPr>
          <a:xfrm>
            <a:off x="3630168" y="196596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(K1–K5)</a:t>
            </a:r>
            <a:endParaRPr lang="uk-UA" sz="1600" noProof="1"/>
          </a:p>
        </p:txBody>
      </p:sp>
      <p:sp>
        <p:nvSpPr>
          <p:cNvPr id="10" name="Shape 8"/>
          <p:cNvSpPr/>
          <p:nvPr/>
        </p:nvSpPr>
        <p:spPr>
          <a:xfrm>
            <a:off x="6035040" y="23317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Нормування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</a:t>
            </a:r>
            <a:endParaRPr lang="uk-UA" sz="1600" noProof="1"/>
          </a:p>
        </p:txBody>
      </p:sp>
      <p:sp>
        <p:nvSpPr>
          <p:cNvPr id="13" name="Shape 11"/>
          <p:cNvSpPr/>
          <p:nvPr/>
        </p:nvSpPr>
        <p:spPr>
          <a:xfrm>
            <a:off x="8778240" y="233172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4" name="Shape 12"/>
          <p:cNvSpPr/>
          <p:nvPr/>
        </p:nvSpPr>
        <p:spPr>
          <a:xfrm>
            <a:off x="9006840" y="187452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5" name="Text 13"/>
          <p:cNvSpPr/>
          <p:nvPr/>
        </p:nvSpPr>
        <p:spPr>
          <a:xfrm>
            <a:off x="9116568" y="196596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(домінування)</a:t>
            </a:r>
            <a:endParaRPr lang="uk-UA" sz="1600" noProof="1"/>
          </a:p>
        </p:txBody>
      </p:sp>
      <p:sp>
        <p:nvSpPr>
          <p:cNvPr id="16" name="Shape 14"/>
          <p:cNvSpPr/>
          <p:nvPr/>
        </p:nvSpPr>
        <p:spPr>
          <a:xfrm>
            <a:off x="2148840" y="297180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7" name="Text 15"/>
          <p:cNvSpPr/>
          <p:nvPr/>
        </p:nvSpPr>
        <p:spPr>
          <a:xfrm>
            <a:off x="2248408" y="306324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Ваги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критеріїв</a:t>
            </a:r>
            <a:endParaRPr lang="uk-UA" sz="1600" noProof="1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Shape 17"/>
          <p:cNvSpPr/>
          <p:nvPr/>
        </p:nvSpPr>
        <p:spPr>
          <a:xfrm>
            <a:off x="4892040" y="297180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0" name="Text 18"/>
          <p:cNvSpPr/>
          <p:nvPr/>
        </p:nvSpPr>
        <p:spPr>
          <a:xfrm>
            <a:off x="4991608" y="306324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Корисність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U(A)</a:t>
            </a:r>
            <a:endParaRPr lang="uk-UA" sz="1600" noProof="1"/>
          </a:p>
        </p:txBody>
      </p:sp>
      <p:sp>
        <p:nvSpPr>
          <p:cNvPr id="21" name="Shape 19"/>
          <p:cNvSpPr/>
          <p:nvPr/>
        </p:nvSpPr>
        <p:spPr>
          <a:xfrm>
            <a:off x="7406640" y="3429000"/>
            <a:ext cx="22860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2" name="Shape 20"/>
          <p:cNvSpPr/>
          <p:nvPr/>
        </p:nvSpPr>
        <p:spPr>
          <a:xfrm>
            <a:off x="7635240" y="2971800"/>
            <a:ext cx="2514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175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3" name="Text 21"/>
          <p:cNvSpPr/>
          <p:nvPr/>
        </p:nvSpPr>
        <p:spPr>
          <a:xfrm>
            <a:off x="7734808" y="3063240"/>
            <a:ext cx="2295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Ранжування</a:t>
            </a:r>
            <a:endParaRPr lang="uk-UA" sz="1600" noProof="1"/>
          </a:p>
          <a:p>
            <a:pPr marL="0" indent="0" algn="ctr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</a:t>
            </a:r>
            <a:endParaRPr lang="uk-UA" sz="1600" noProof="1"/>
          </a:p>
        </p:txBody>
      </p:sp>
      <p:sp>
        <p:nvSpPr>
          <p:cNvPr id="25" name="Text 23"/>
          <p:cNvSpPr/>
          <p:nvPr/>
        </p:nvSpPr>
        <p:spPr>
          <a:xfrm>
            <a:off x="899160" y="39502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(K1–K5):</a:t>
            </a:r>
            <a:endParaRPr lang="uk-UA" sz="1600" noProof="1"/>
          </a:p>
        </p:txBody>
      </p:sp>
      <p:sp>
        <p:nvSpPr>
          <p:cNvPr id="26" name="Shape 24"/>
          <p:cNvSpPr/>
          <p:nvPr/>
        </p:nvSpPr>
        <p:spPr>
          <a:xfrm>
            <a:off x="899160" y="4315968"/>
            <a:ext cx="2011680" cy="38404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7" name="Text 25"/>
          <p:cNvSpPr/>
          <p:nvPr/>
        </p:nvSpPr>
        <p:spPr>
          <a:xfrm>
            <a:off x="89916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↓</a:t>
            </a:r>
            <a:endParaRPr lang="uk-UA" sz="1300" noProof="1"/>
          </a:p>
        </p:txBody>
      </p:sp>
      <p:sp>
        <p:nvSpPr>
          <p:cNvPr id="28" name="Shape 26"/>
          <p:cNvSpPr/>
          <p:nvPr/>
        </p:nvSpPr>
        <p:spPr>
          <a:xfrm>
            <a:off x="3048000" y="4315968"/>
            <a:ext cx="2011680" cy="38404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9" name="Text 27"/>
          <p:cNvSpPr/>
          <p:nvPr/>
        </p:nvSpPr>
        <p:spPr>
          <a:xfrm>
            <a:off x="304800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↓</a:t>
            </a:r>
            <a:endParaRPr lang="uk-UA" sz="1300" noProof="1"/>
          </a:p>
        </p:txBody>
      </p:sp>
      <p:sp>
        <p:nvSpPr>
          <p:cNvPr id="30" name="Shape 28"/>
          <p:cNvSpPr/>
          <p:nvPr/>
        </p:nvSpPr>
        <p:spPr>
          <a:xfrm>
            <a:off x="5196840" y="4315968"/>
            <a:ext cx="2011680" cy="384048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1" name="Text 29"/>
          <p:cNvSpPr/>
          <p:nvPr/>
        </p:nvSpPr>
        <p:spPr>
          <a:xfrm>
            <a:off x="519684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↑</a:t>
            </a:r>
            <a:endParaRPr lang="uk-UA" sz="1300" noProof="1"/>
          </a:p>
        </p:txBody>
      </p:sp>
      <p:sp>
        <p:nvSpPr>
          <p:cNvPr id="32" name="Shape 30"/>
          <p:cNvSpPr/>
          <p:nvPr/>
        </p:nvSpPr>
        <p:spPr>
          <a:xfrm>
            <a:off x="7345680" y="4315968"/>
            <a:ext cx="2011680" cy="38404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3" name="Text 31"/>
          <p:cNvSpPr/>
          <p:nvPr/>
        </p:nvSpPr>
        <p:spPr>
          <a:xfrm>
            <a:off x="734568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↓</a:t>
            </a:r>
            <a:endParaRPr lang="uk-UA" sz="1300" noProof="1"/>
          </a:p>
        </p:txBody>
      </p:sp>
      <p:sp>
        <p:nvSpPr>
          <p:cNvPr id="34" name="Shape 32"/>
          <p:cNvSpPr/>
          <p:nvPr/>
        </p:nvSpPr>
        <p:spPr>
          <a:xfrm>
            <a:off x="9494520" y="4315968"/>
            <a:ext cx="2011680" cy="384048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35" name="Text 33"/>
          <p:cNvSpPr/>
          <p:nvPr/>
        </p:nvSpPr>
        <p:spPr>
          <a:xfrm>
            <a:off x="9494520" y="4370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300" b="1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↑</a:t>
            </a:r>
            <a:endParaRPr lang="uk-UA" sz="1300" noProof="1"/>
          </a:p>
        </p:txBody>
      </p:sp>
      <p:sp>
        <p:nvSpPr>
          <p:cNvPr id="36" name="Shape 34"/>
          <p:cNvSpPr/>
          <p:nvPr/>
        </p:nvSpPr>
        <p:spPr>
          <a:xfrm>
            <a:off x="777240" y="4910329"/>
            <a:ext cx="10835640" cy="13258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37" name="Text 35"/>
          <p:cNvSpPr/>
          <p:nvPr/>
        </p:nvSpPr>
        <p:spPr>
          <a:xfrm>
            <a:off x="1005840" y="4946904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Ідея: “краще” визначається не одним числом, а балансом критеріїв.</a:t>
            </a:r>
            <a:endParaRPr lang="uk-UA" sz="2000" noProof="1"/>
          </a:p>
          <a:p>
            <a:pPr marL="0" indent="0">
              <a:buNone/>
            </a:pPr>
            <a:r>
              <a:rPr lang="uk-UA" sz="20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Тому вибір робимо як: (1) усунути доміновані варіанти (Pareto) → (2) агрегувати оцінки з вагами.</a:t>
            </a:r>
            <a:endParaRPr lang="uk-UA" sz="2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Результат ранжування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7635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graphicFrame>
        <p:nvGraphicFramePr>
          <p:cNvPr id="6" name="Chart 0"/>
          <p:cNvGraphicFramePr/>
          <p:nvPr/>
        </p:nvGraphicFramePr>
        <p:xfrm>
          <a:off x="1005840" y="1965960"/>
          <a:ext cx="71780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641080" y="164592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8" name="Shape 5"/>
          <p:cNvSpPr/>
          <p:nvPr/>
        </p:nvSpPr>
        <p:spPr>
          <a:xfrm>
            <a:off x="8641080" y="1645920"/>
            <a:ext cx="91440" cy="2148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9" name="Text 6"/>
          <p:cNvSpPr/>
          <p:nvPr/>
        </p:nvSpPr>
        <p:spPr>
          <a:xfrm>
            <a:off x="8869680" y="1828800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Топ-2</a:t>
            </a:r>
            <a:endParaRPr lang="uk-UA" sz="2400" noProof="1"/>
          </a:p>
        </p:txBody>
      </p:sp>
      <p:sp>
        <p:nvSpPr>
          <p:cNvPr id="10" name="Text 7"/>
          <p:cNvSpPr/>
          <p:nvPr/>
        </p:nvSpPr>
        <p:spPr>
          <a:xfrm>
            <a:off x="8869680" y="2212848"/>
            <a:ext cx="263347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WebSocket — 0.89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Socket.IO — 0.69</a:t>
            </a:r>
            <a:endParaRPr lang="uk-UA" noProof="1"/>
          </a:p>
        </p:txBody>
      </p:sp>
      <p:sp>
        <p:nvSpPr>
          <p:cNvPr id="11" name="Shape 8"/>
          <p:cNvSpPr/>
          <p:nvPr/>
        </p:nvSpPr>
        <p:spPr>
          <a:xfrm>
            <a:off x="8641080" y="39776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2" name="Shape 9"/>
          <p:cNvSpPr/>
          <p:nvPr/>
        </p:nvSpPr>
        <p:spPr>
          <a:xfrm>
            <a:off x="8641080" y="3977640"/>
            <a:ext cx="91440" cy="2148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3" name="Text 10"/>
          <p:cNvSpPr/>
          <p:nvPr/>
        </p:nvSpPr>
        <p:spPr>
          <a:xfrm>
            <a:off x="8869680" y="4160520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Інтерпретація</a:t>
            </a:r>
            <a:endParaRPr lang="uk-UA" sz="2400" noProof="1"/>
          </a:p>
        </p:txBody>
      </p:sp>
      <p:sp>
        <p:nvSpPr>
          <p:cNvPr id="14" name="Text 11"/>
          <p:cNvSpPr/>
          <p:nvPr/>
        </p:nvSpPr>
        <p:spPr>
          <a:xfrm>
            <a:off x="8869680" y="4544568"/>
            <a:ext cx="2885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Висока корисність =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кращий баланс затримки/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оверхеду/масштабування</a:t>
            </a:r>
            <a:endParaRPr lang="uk-UA" noProof="1"/>
          </a:p>
          <a:p>
            <a:pPr marL="0" indent="0">
              <a:buNone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урахуванням ваг.</a:t>
            </a:r>
            <a:endParaRPr lang="uk-UA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Програмна реалізація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8" name="Text 5"/>
          <p:cNvSpPr/>
          <p:nvPr/>
        </p:nvSpPr>
        <p:spPr>
          <a:xfrm>
            <a:off x="4896993" y="2532470"/>
            <a:ext cx="2669284" cy="461665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uk-UA" sz="24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елементи</a:t>
            </a:r>
            <a:endParaRPr lang="uk-UA" sz="2400" noProof="1"/>
          </a:p>
        </p:txBody>
      </p:sp>
      <p:sp>
        <p:nvSpPr>
          <p:cNvPr id="9" name="Text 6"/>
          <p:cNvSpPr/>
          <p:nvPr/>
        </p:nvSpPr>
        <p:spPr>
          <a:xfrm>
            <a:off x="8549640" y="214884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uk-UA" sz="1400" noProof="1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67EF576-6603-14AD-766C-4F3E038C7293}"/>
              </a:ext>
            </a:extLst>
          </p:cNvPr>
          <p:cNvSpPr/>
          <p:nvPr/>
        </p:nvSpPr>
        <p:spPr>
          <a:xfrm>
            <a:off x="640080" y="2270791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 anchor="ctr" anchorCtr="0">
            <a:norm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JSON-формат події</a:t>
            </a:r>
            <a:endParaRPr lang="uk-UA" noProof="1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0D652625-3756-8505-7A54-20035DE34870}"/>
              </a:ext>
            </a:extLst>
          </p:cNvPr>
          <p:cNvSpPr/>
          <p:nvPr/>
        </p:nvSpPr>
        <p:spPr>
          <a:xfrm>
            <a:off x="640078" y="3951234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каналів доставки (polling…GraphQL)</a:t>
            </a:r>
            <a:endParaRPr lang="uk-UA" noProof="1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D1FBF787-4439-76BA-EA95-C2C3CB01FEFC}"/>
              </a:ext>
            </a:extLst>
          </p:cNvPr>
          <p:cNvSpPr/>
          <p:nvPr/>
        </p:nvSpPr>
        <p:spPr>
          <a:xfrm>
            <a:off x="8278370" y="2270790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Метрики: avg, p50, p95, bytes/event</a:t>
            </a:r>
            <a:endParaRPr lang="uk-UA" noProof="1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E1064289-68A1-4831-7198-4FA30123D845}"/>
              </a:ext>
            </a:extLst>
          </p:cNvPr>
          <p:cNvSpPr/>
          <p:nvPr/>
        </p:nvSpPr>
        <p:spPr>
          <a:xfrm>
            <a:off x="8278370" y="3874722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Сценарії: часті/рідкі події, 1/N клієнтів</a:t>
            </a:r>
            <a:endParaRPr lang="uk-UA" noProof="1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34800B4-0DEF-275A-C736-2143D532FB7B}"/>
              </a:ext>
            </a:extLst>
          </p:cNvPr>
          <p:cNvSpPr/>
          <p:nvPr/>
        </p:nvSpPr>
        <p:spPr>
          <a:xfrm>
            <a:off x="4594859" y="3951233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обробник handleIncomingEvent()</a:t>
            </a:r>
            <a:endParaRPr lang="uk-UA" noProof="1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5F003D25-0010-59C8-30F2-35910E9E4E07}"/>
              </a:ext>
            </a:extLst>
          </p:cNvPr>
          <p:cNvSpPr/>
          <p:nvPr/>
        </p:nvSpPr>
        <p:spPr>
          <a:xfrm>
            <a:off x="640080" y="3951234"/>
            <a:ext cx="3273552" cy="107731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5240" dir="2700000" algn="bl" rotWithShape="0">
              <a:srgbClr val="000000">
                <a:alpha val="12000"/>
              </a:srgbClr>
            </a:outerShdw>
          </a:effectLst>
        </p:spPr>
        <p:txBody>
          <a:bodyPr anchor="ctr" anchorCtr="0"/>
          <a:lstStyle/>
          <a:p>
            <a:pPr algn="ctr">
              <a:spcAft>
                <a:spcPts val="600"/>
              </a:spcAft>
              <a:buSzPct val="100000"/>
            </a:pPr>
            <a:r>
              <a:rPr lang="uk-UA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каналів доставки (polling…GraphQL)</a:t>
            </a:r>
            <a:endParaRPr lang="uk-UA" noProof="1"/>
          </a:p>
        </p:txBody>
      </p:sp>
      <p:cxnSp>
        <p:nvCxnSpPr>
          <p:cNvPr id="17" name="Пряма зі стрілкою 16">
            <a:extLst>
              <a:ext uri="{FF2B5EF4-FFF2-40B4-BE49-F238E27FC236}">
                <a16:creationId xmlns:a16="http://schemas.microsoft.com/office/drawing/2014/main" id="{4E49C3CF-36DF-B3BA-5B02-4B4CA98191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3913632" y="2763303"/>
            <a:ext cx="983361" cy="4614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 зі стрілкою 18">
            <a:extLst>
              <a:ext uri="{FF2B5EF4-FFF2-40B4-BE49-F238E27FC236}">
                <a16:creationId xmlns:a16="http://schemas.microsoft.com/office/drawing/2014/main" id="{EE942F71-9CEA-1A77-2005-D4AEEA320474}"/>
              </a:ext>
            </a:extLst>
          </p:cNvPr>
          <p:cNvCxnSpPr/>
          <p:nvPr/>
        </p:nvCxnSpPr>
        <p:spPr>
          <a:xfrm flipH="1">
            <a:off x="3830320" y="2994135"/>
            <a:ext cx="1066673" cy="95709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 зі стрілкою 20">
            <a:extLst>
              <a:ext uri="{FF2B5EF4-FFF2-40B4-BE49-F238E27FC236}">
                <a16:creationId xmlns:a16="http://schemas.microsoft.com/office/drawing/2014/main" id="{C137E2E6-687D-A241-E2FC-FC4600BCF79E}"/>
              </a:ext>
            </a:extLst>
          </p:cNvPr>
          <p:cNvCxnSpPr/>
          <p:nvPr/>
        </p:nvCxnSpPr>
        <p:spPr>
          <a:xfrm>
            <a:off x="7566277" y="2994135"/>
            <a:ext cx="805563" cy="88058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 зі стрілкою 22">
            <a:extLst>
              <a:ext uri="{FF2B5EF4-FFF2-40B4-BE49-F238E27FC236}">
                <a16:creationId xmlns:a16="http://schemas.microsoft.com/office/drawing/2014/main" id="{3EC95235-CF38-DC57-6671-FA452114BD29}"/>
              </a:ext>
            </a:extLst>
          </p:cNvPr>
          <p:cNvCxnSpPr>
            <a:stCxn id="8" idx="2"/>
            <a:endCxn id="14" idx="0"/>
          </p:cNvCxnSpPr>
          <p:nvPr/>
        </p:nvCxnSpPr>
        <p:spPr>
          <a:xfrm>
            <a:off x="6231635" y="2994135"/>
            <a:ext cx="0" cy="95709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 зі стрілкою 24">
            <a:extLst>
              <a:ext uri="{FF2B5EF4-FFF2-40B4-BE49-F238E27FC236}">
                <a16:creationId xmlns:a16="http://schemas.microsoft.com/office/drawing/2014/main" id="{31C11228-B572-B1F4-5015-1D0436261B4C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7566277" y="2763303"/>
            <a:ext cx="712093" cy="4614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32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 та рекомендації</a:t>
            </a:r>
            <a:endParaRPr lang="uk-UA" sz="3200" noProof="1"/>
          </a:p>
        </p:txBody>
      </p:sp>
      <p:sp>
        <p:nvSpPr>
          <p:cNvPr id="3" name="Shape 1"/>
          <p:cNvSpPr/>
          <p:nvPr/>
        </p:nvSpPr>
        <p:spPr>
          <a:xfrm>
            <a:off x="640080" y="932688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9144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uk-UA" sz="2000" noProof="1"/>
          </a:p>
        </p:txBody>
      </p:sp>
      <p:sp>
        <p:nvSpPr>
          <p:cNvPr id="8" name="Text 6"/>
          <p:cNvSpPr/>
          <p:nvPr/>
        </p:nvSpPr>
        <p:spPr>
          <a:xfrm>
            <a:off x="1005840" y="193040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вибір для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двонапрямного real-time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мінімальної затримки.</a:t>
            </a:r>
            <a:endParaRPr lang="uk-UA" sz="1600" noProof="1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91440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uk-UA" sz="2000" noProof="1"/>
          </a:p>
        </p:txBody>
      </p:sp>
      <p:sp>
        <p:nvSpPr>
          <p:cNvPr id="12" name="Text 10"/>
          <p:cNvSpPr/>
          <p:nvPr/>
        </p:nvSpPr>
        <p:spPr>
          <a:xfrm>
            <a:off x="5074920" y="193040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потрібен потік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оновлень server→client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(стрічки/сповіщення).</a:t>
            </a:r>
            <a:endParaRPr lang="uk-UA" sz="1600" noProof="1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91440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5" name="Text 13"/>
          <p:cNvSpPr/>
          <p:nvPr/>
        </p:nvSpPr>
        <p:spPr>
          <a:xfrm>
            <a:off x="1005840" y="3337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uk-UA" sz="2000" noProof="1"/>
          </a:p>
        </p:txBody>
      </p:sp>
      <p:sp>
        <p:nvSpPr>
          <p:cNvPr id="16" name="Text 14"/>
          <p:cNvSpPr/>
          <p:nvPr/>
        </p:nvSpPr>
        <p:spPr>
          <a:xfrm>
            <a:off x="1005840" y="357632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важливі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reconnect/fallback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подієва модель.</a:t>
            </a:r>
            <a:endParaRPr lang="uk-UA" sz="1600" noProof="1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18" name="Shape 16"/>
          <p:cNvSpPr/>
          <p:nvPr/>
        </p:nvSpPr>
        <p:spPr>
          <a:xfrm>
            <a:off x="4846320" y="3154680"/>
            <a:ext cx="91440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19" name="Text 17"/>
          <p:cNvSpPr/>
          <p:nvPr/>
        </p:nvSpPr>
        <p:spPr>
          <a:xfrm>
            <a:off x="5074920" y="33375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polling</a:t>
            </a:r>
            <a:endParaRPr lang="uk-UA" sz="2000" noProof="1"/>
          </a:p>
        </p:txBody>
      </p:sp>
      <p:sp>
        <p:nvSpPr>
          <p:cNvPr id="20" name="Text 18"/>
          <p:cNvSpPr/>
          <p:nvPr/>
        </p:nvSpPr>
        <p:spPr>
          <a:xfrm>
            <a:off x="5074920" y="357632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Компроміс, якщо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persistent-з’єднання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обмежені інфраструктурою.</a:t>
            </a:r>
            <a:endParaRPr lang="uk-UA" sz="1600" noProof="1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2" name="Shape 20"/>
          <p:cNvSpPr/>
          <p:nvPr/>
        </p:nvSpPr>
        <p:spPr>
          <a:xfrm>
            <a:off x="777240" y="4800600"/>
            <a:ext cx="91440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3" name="Text 21"/>
          <p:cNvSpPr/>
          <p:nvPr/>
        </p:nvSpPr>
        <p:spPr>
          <a:xfrm>
            <a:off x="1005840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Subs</a:t>
            </a:r>
            <a:endParaRPr lang="uk-UA" sz="2000" noProof="1"/>
          </a:p>
        </p:txBody>
      </p:sp>
      <p:sp>
        <p:nvSpPr>
          <p:cNvPr id="24" name="Text 22"/>
          <p:cNvSpPr/>
          <p:nvPr/>
        </p:nvSpPr>
        <p:spPr>
          <a:xfrm>
            <a:off x="1005840" y="522224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Доречно в GraphQL-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орієнтованій архітектурі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(єдиний контракт даних).</a:t>
            </a:r>
            <a:endParaRPr lang="uk-UA" sz="1600" noProof="1"/>
          </a:p>
        </p:txBody>
      </p:sp>
      <p:sp>
        <p:nvSpPr>
          <p:cNvPr id="25" name="Shape 23"/>
          <p:cNvSpPr/>
          <p:nvPr/>
        </p:nvSpPr>
        <p:spPr>
          <a:xfrm>
            <a:off x="4846320" y="480060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38100" dist="1905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26" name="Shape 24"/>
          <p:cNvSpPr/>
          <p:nvPr/>
        </p:nvSpPr>
        <p:spPr>
          <a:xfrm>
            <a:off x="4846320" y="4800600"/>
            <a:ext cx="91440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uk-UA" noProof="1"/>
          </a:p>
        </p:txBody>
      </p:sp>
      <p:sp>
        <p:nvSpPr>
          <p:cNvPr id="27" name="Text 25"/>
          <p:cNvSpPr/>
          <p:nvPr/>
        </p:nvSpPr>
        <p:spPr>
          <a:xfrm>
            <a:off x="5074920" y="4983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polling</a:t>
            </a:r>
            <a:endParaRPr lang="uk-UA" sz="2000" noProof="1"/>
          </a:p>
        </p:txBody>
      </p:sp>
      <p:sp>
        <p:nvSpPr>
          <p:cNvPr id="28" name="Text 26"/>
          <p:cNvSpPr/>
          <p:nvPr/>
        </p:nvSpPr>
        <p:spPr>
          <a:xfrm>
            <a:off x="5074920" y="5222240"/>
            <a:ext cx="3337560" cy="739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Найпростіший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резервний варіант</a:t>
            </a:r>
            <a:endParaRPr lang="uk-UA" sz="1600" noProof="1"/>
          </a:p>
          <a:p>
            <a:pPr marL="0" indent="0">
              <a:buNone/>
            </a:pPr>
            <a:r>
              <a:rPr lang="uk-UA" sz="1600" noProof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(ціна — оверхед і затримка).</a:t>
            </a:r>
            <a:endParaRPr lang="uk-UA" sz="1600" noProof="1"/>
          </a:p>
        </p:txBody>
      </p:sp>
      <p:sp>
        <p:nvSpPr>
          <p:cNvPr id="29" name="Shape 27"/>
          <p:cNvSpPr/>
          <p:nvPr/>
        </p:nvSpPr>
        <p:spPr>
          <a:xfrm>
            <a:off x="8823960" y="1508760"/>
            <a:ext cx="2788920" cy="46177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50800" dist="254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uk-UA" noProof="1"/>
          </a:p>
        </p:txBody>
      </p:sp>
      <p:sp>
        <p:nvSpPr>
          <p:cNvPr id="30" name="Text 28"/>
          <p:cNvSpPr/>
          <p:nvPr/>
        </p:nvSpPr>
        <p:spPr>
          <a:xfrm>
            <a:off x="954024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2000" b="1" noProof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uk-UA" sz="2000" noProof="1"/>
          </a:p>
        </p:txBody>
      </p:sp>
      <p:sp>
        <p:nvSpPr>
          <p:cNvPr id="31" name="Text 29"/>
          <p:cNvSpPr/>
          <p:nvPr/>
        </p:nvSpPr>
        <p:spPr>
          <a:xfrm>
            <a:off x="8961120" y="2377440"/>
            <a:ext cx="2651760" cy="307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uk-UA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канали дають найкращу latency/overhead</a:t>
            </a:r>
            <a:endParaRPr lang="uk-UA" noProof="1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uk-UA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Вибір = баланс критеріїв + контекст інфраструктури</a:t>
            </a:r>
            <a:endParaRPr lang="uk-UA" noProof="1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uk-UA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Рекомендації зручно оформити як “матрицю сценаріїв”</a:t>
            </a:r>
            <a:endParaRPr lang="uk-UA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1454</Words>
  <Application>Microsoft Office PowerPoint</Application>
  <PresentationFormat>Широкий екран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Юхим Кащенко</cp:lastModifiedBy>
  <cp:revision>4</cp:revision>
  <dcterms:created xsi:type="dcterms:W3CDTF">2025-12-26T23:01:24Z</dcterms:created>
  <dcterms:modified xsi:type="dcterms:W3CDTF">2026-05-17T10:22:27Z</dcterms:modified>
</cp:coreProperties>
</file>